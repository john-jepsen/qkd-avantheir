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11094415" cy="1837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4000">
                <a:solidFill>
                  <a:srgbClr val="1F2937"/>
                </a:solidFill>
                <a:latin typeface="Calibri"/>
              </a:rPr>
              <a:t>Learned vs. Fixed Decision Boundaries for Eavesdrop Detection in QKD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895343"/>
            <a:ext cx="1109441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2200">
                <a:solidFill>
                  <a:srgbClr val="0E8A16"/>
                </a:solidFill>
                <a:latin typeface="Calibri"/>
              </a:rPr>
              <a:t>An adversarially-robust machine-learning reappraisal of the 11% QBER rule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443983"/>
            <a:ext cx="1109441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2000">
                <a:solidFill>
                  <a:srgbClr val="1F2937"/>
                </a:solidFill>
                <a:latin typeface="Calibri"/>
              </a:rPr>
              <a:t>John Jepsen — MSCS (Machine Learning)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48640"/>
            <a:ext cx="1109441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3000">
                <a:solidFill>
                  <a:srgbClr val="1F2937"/>
                </a:solidFill>
                <a:latin typeface="Calibri"/>
              </a:rPr>
              <a:t>The 11% rule is a classifier — the simplest one possible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109441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700">
                <a:solidFill>
                  <a:srgbClr val="1F2937"/>
                </a:solidFill>
                <a:latin typeface="Calibri"/>
              </a:rPr>
              <a:t>Every QKD deployment runs a detector: measure QBER; if it exceeds 11%, abort.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66900"/>
            <a:ext cx="1109441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700">
                <a:solidFill>
                  <a:srgbClr val="1F2937"/>
                </a:solidFill>
                <a:latin typeface="Calibri"/>
              </a:rPr>
              <a:t>Stated as machine learning, that rule is a </a:t>
            </a:r>
            <a:r>
              <a:rPr b="1" sz="1700">
                <a:solidFill>
                  <a:srgbClr val="1F2937"/>
                </a:solidFill>
                <a:latin typeface="Calibri"/>
              </a:rPr>
              <a:t>univariate decision stump</a:t>
            </a:r>
            <a:r>
              <a:rPr b="0" sz="1700">
                <a:solidFill>
                  <a:srgbClr val="1F2937"/>
                </a:solidFill>
                <a:latin typeface="Calibri"/>
              </a:rPr>
              <a:t>: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2270760"/>
          <a:ext cx="11094415" cy="26883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47207"/>
                <a:gridCol w="5547208"/>
              </a:tblGrid>
              <a:tr h="384048"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  <a:latin typeface="Calibri"/>
                        </a:rPr>
                        <a:t>Component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  <a:latin typeface="Calibri"/>
                        </a:rPr>
                        <a:t>The 11% rule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b="0" sz="1400">
                          <a:solidFill>
                            <a:srgbClr val="1F2937"/>
                          </a:solidFill>
                          <a:latin typeface="Calibri"/>
                        </a:rPr>
                        <a:t>Features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1F2937"/>
                          </a:solidFill>
                          <a:latin typeface="Calibri"/>
                        </a:rPr>
                        <a:t>one</a:t>
                      </a:r>
                      <a:r>
                        <a:rPr b="0" sz="1400">
                          <a:solidFill>
                            <a:srgbClr val="1F2937"/>
                          </a:solidFill>
                          <a:latin typeface="Calibri"/>
                        </a:rPr>
                        <a:t> (QBER)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b="0" sz="1400">
                          <a:solidFill>
                            <a:srgbClr val="1F2937"/>
                          </a:solidFill>
                          <a:latin typeface="Calibri"/>
                        </a:rPr>
                        <a:t>Decision boundary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1400">
                          <a:solidFill>
                            <a:srgbClr val="1F2937"/>
                          </a:solidFill>
                          <a:latin typeface="Calibri"/>
                        </a:rPr>
                        <a:t>a hand-set constant (0.11)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b="0" sz="1400">
                          <a:solidFill>
                            <a:srgbClr val="1F2937"/>
                          </a:solidFill>
                          <a:latin typeface="Calibri"/>
                        </a:rPr>
                        <a:t>Training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1400">
                          <a:solidFill>
                            <a:srgbClr val="1F2937"/>
                          </a:solidFill>
                          <a:latin typeface="Calibri"/>
                        </a:rPr>
                        <a:t>none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b="0" sz="1400">
                          <a:solidFill>
                            <a:srgbClr val="1F2937"/>
                          </a:solidFill>
                          <a:latin typeface="Calibri"/>
                        </a:rPr>
                        <a:t>Calibration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1400">
                          <a:solidFill>
                            <a:srgbClr val="1F2937"/>
                          </a:solidFill>
                          <a:latin typeface="Calibri"/>
                        </a:rPr>
                        <a:t>none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b="0" sz="1400">
                          <a:solidFill>
                            <a:srgbClr val="1F2937"/>
                          </a:solidFill>
                          <a:latin typeface="Calibri"/>
                        </a:rPr>
                        <a:t>Operating point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1400">
                          <a:solidFill>
                            <a:srgbClr val="1F2937"/>
                          </a:solidFill>
                          <a:latin typeface="Calibri"/>
                        </a:rPr>
                        <a:t>one fixed threshold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b="0" sz="1400">
                          <a:solidFill>
                            <a:srgbClr val="1F2937"/>
                          </a:solidFill>
                          <a:latin typeface="Calibri"/>
                        </a:rPr>
                        <a:t>Adaptation to adversary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1400">
                          <a:solidFill>
                            <a:srgbClr val="1F2937"/>
                          </a:solidFill>
                          <a:latin typeface="Calibri"/>
                        </a:rPr>
                        <a:t>none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5141976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700">
                <a:solidFill>
                  <a:srgbClr val="1F2937"/>
                </a:solidFill>
                <a:latin typeface="Calibri"/>
              </a:rPr>
              <a:t>This is an ML thesis.</a:t>
            </a:r>
            <a:r>
              <a:rPr b="0" sz="1700">
                <a:solidFill>
                  <a:srgbClr val="1F2937"/>
                </a:solidFill>
                <a:latin typeface="Calibri"/>
              </a:rPr>
              <a:t> QKD is the testbed, the data-generating process, and the source of ground-truth labels — not the subject.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48640"/>
            <a:ext cx="1109441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3000">
                <a:solidFill>
                  <a:srgbClr val="1F2937"/>
                </a:solidFill>
                <a:latin typeface="Calibri"/>
              </a:rPr>
              <a:t>The machine-learning question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700">
                <a:solidFill>
                  <a:srgbClr val="1F2937"/>
                </a:solidFill>
                <a:latin typeface="Calibri"/>
              </a:rPr>
              <a:t>&gt; Does a </a:t>
            </a:r>
            <a:r>
              <a:rPr b="1" sz="1700">
                <a:solidFill>
                  <a:srgbClr val="1F2937"/>
                </a:solidFill>
                <a:latin typeface="Calibri"/>
              </a:rPr>
              <a:t>trained, multivariate classifier</a:t>
            </a:r>
            <a:r>
              <a:rPr b="0" sz="1700">
                <a:solidFill>
                  <a:srgbClr val="1F2937"/>
                </a:solidFill>
                <a:latin typeface="Calibri"/>
              </a:rPr>
              <a:t> dominate a hand-set single-feature &gt; threshold — and does the advantage survive an </a:t>
            </a:r>
            <a:r>
              <a:rPr b="1" sz="1700">
                <a:solidFill>
                  <a:srgbClr val="1F2937"/>
                </a:solidFill>
                <a:latin typeface="Calibri"/>
              </a:rPr>
              <a:t>adaptive adversary</a:t>
            </a:r>
            <a:r>
              <a:rPr b="0" sz="1700">
                <a:solidFill>
                  <a:srgbClr val="1F2937"/>
                </a:solidFill>
                <a:latin typeface="Calibri"/>
              </a:rPr>
              <a:t>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232660"/>
            <a:ext cx="1109441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700">
                <a:solidFill>
                  <a:srgbClr val="1F2937"/>
                </a:solidFill>
                <a:latin typeface="Calibri"/>
              </a:rPr>
              <a:t>Four questions, each measured end-to-end on a working stack: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636520"/>
            <a:ext cx="1109441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700">
                <a:solidFill>
                  <a:srgbClr val="1F2937"/>
                </a:solidFill>
                <a:latin typeface="Calibri"/>
              </a:rPr>
              <a:t>Calibration</a:t>
            </a:r>
            <a:r>
              <a:rPr b="0" sz="1700">
                <a:solidFill>
                  <a:srgbClr val="1F2937"/>
                </a:solidFill>
                <a:latin typeface="Calibri"/>
              </a:rPr>
              <a:t> — where is the true class boundary, and how far off is 11%?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985516"/>
            <a:ext cx="1109441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700">
                <a:solidFill>
                  <a:srgbClr val="1F2937"/>
                </a:solidFill>
                <a:latin typeface="Calibri"/>
              </a:rPr>
              <a:t>Cost</a:t>
            </a:r>
            <a:r>
              <a:rPr b="0" sz="1700">
                <a:solidFill>
                  <a:srgbClr val="1F2937"/>
                </a:solidFill>
                <a:latin typeface="Calibri"/>
              </a:rPr>
              <a:t> — what does the stump's fixed operating point cost?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334512"/>
            <a:ext cx="1109441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700">
                <a:solidFill>
                  <a:srgbClr val="1F2937"/>
                </a:solidFill>
                <a:latin typeface="Calibri"/>
              </a:rPr>
              <a:t>Representation</a:t>
            </a:r>
            <a:r>
              <a:rPr b="0" sz="1700">
                <a:solidFill>
                  <a:srgbClr val="1F2937"/>
                </a:solidFill>
                <a:latin typeface="Calibri"/>
              </a:rPr>
              <a:t> — do richer features recover attacks the stump accepts?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683508"/>
            <a:ext cx="1109441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700">
                <a:solidFill>
                  <a:srgbClr val="1F2937"/>
                </a:solidFill>
                <a:latin typeface="Calibri"/>
              </a:rPr>
              <a:t>Robustness</a:t>
            </a:r>
            <a:r>
              <a:rPr b="0" sz="1700">
                <a:solidFill>
                  <a:srgbClr val="1F2937"/>
                </a:solidFill>
                <a:latin typeface="Calibri"/>
              </a:rPr>
              <a:t> — does the learned detector hold when the attacker adapts?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48640"/>
            <a:ext cx="1109441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3000">
                <a:solidFill>
                  <a:srgbClr val="1F2937"/>
                </a:solidFill>
                <a:latin typeface="Calibri"/>
              </a:rPr>
              <a:t>Method — an ML harness on a QKD testbed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463040"/>
          <a:ext cx="11094415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47207"/>
                <a:gridCol w="5547208"/>
              </a:tblGrid>
              <a:tr h="384048"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  <a:latin typeface="Calibri"/>
                        </a:rPr>
                        <a:t>ML role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  <a:latin typeface="Calibri"/>
                        </a:rPr>
                        <a:t>Component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b="0" sz="1400">
                          <a:solidFill>
                            <a:srgbClr val="1F2937"/>
                          </a:solidFill>
                          <a:latin typeface="Calibri"/>
                        </a:rPr>
                        <a:t>Ground-truth labels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937"/>
                          </a:solidFill>
                          <a:latin typeface="Menlo"/>
                        </a:rPr>
                        <a:t>qkdsec</a:t>
                      </a:r>
                      <a:r>
                        <a:rPr b="0" sz="1400">
                          <a:solidFill>
                            <a:srgbClr val="1F2937"/>
                          </a:solidFill>
                          <a:latin typeface="Calibri"/>
                        </a:rPr>
                        <a:t> key-rate package (Devetak–Winter SDP)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b="0" sz="1400">
                          <a:solidFill>
                            <a:srgbClr val="1F2937"/>
                          </a:solidFill>
                          <a:latin typeface="Calibri"/>
                        </a:rPr>
                        <a:t>Data-generating process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1400">
                          <a:solidFill>
                            <a:srgbClr val="1F2937"/>
                          </a:solidFill>
                          <a:latin typeface="Calibri"/>
                        </a:rPr>
                        <a:t>BB84 simulator on Qiskit Aer + tunable eavesdropper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b="0" sz="1400">
                          <a:solidFill>
                            <a:srgbClr val="1F2937"/>
                          </a:solidFill>
                          <a:latin typeface="Calibri"/>
                        </a:rPr>
                        <a:t>Learned detector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1400">
                          <a:solidFill>
                            <a:srgbClr val="1F2937"/>
                          </a:solidFill>
                          <a:latin typeface="Calibri"/>
                        </a:rPr>
                        <a:t>Random Forest on a </a:t>
                      </a:r>
                      <a:r>
                        <a:rPr b="1" sz="1400">
                          <a:solidFill>
                            <a:srgbClr val="1F2937"/>
                          </a:solidFill>
                          <a:latin typeface="Calibri"/>
                        </a:rPr>
                        <a:t>12-feature</a:t>
                      </a:r>
                      <a:r>
                        <a:rPr b="0" sz="1400">
                          <a:solidFill>
                            <a:srgbClr val="1F2937"/>
                          </a:solidFill>
                          <a:latin typeface="Calibri"/>
                        </a:rPr>
                        <a:t> vector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b="0" sz="1400">
                          <a:solidFill>
                            <a:srgbClr val="1F2937"/>
                          </a:solidFill>
                          <a:latin typeface="Calibri"/>
                        </a:rPr>
                        <a:t>Adversarial-training harness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1400">
                          <a:solidFill>
                            <a:srgbClr val="1F2937"/>
                          </a:solidFill>
                          <a:latin typeface="Calibri"/>
                        </a:rPr>
                        <a:t>DEAP co-evolutionary attacker/defender gym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48640" y="3566160"/>
            <a:ext cx="11094415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700">
                <a:solidFill>
                  <a:srgbClr val="1F2937"/>
                </a:solidFill>
                <a:latin typeface="Calibri"/>
              </a:rPr>
              <a:t>• Both classifiers see </a:t>
            </a:r>
            <a:r>
              <a:rPr b="1" sz="1700">
                <a:solidFill>
                  <a:srgbClr val="1F2937"/>
                </a:solidFill>
                <a:latin typeface="Calibri"/>
              </a:rPr>
              <a:t>identical runs</a:t>
            </a:r>
            <a:r>
              <a:rPr b="0" sz="1700">
                <a:solidFill>
                  <a:srgbClr val="1F2937"/>
                </a:solidFill>
                <a:latin typeface="Calibri"/>
              </a:rPr>
              <a:t> through </a:t>
            </a:r>
            <a:r>
              <a:rPr b="1" sz="1700">
                <a:solidFill>
                  <a:srgbClr val="1F2937"/>
                </a:solidFill>
                <a:latin typeface="Calibri"/>
              </a:rPr>
              <a:t>identical feature extraction</a:t>
            </a:r>
            <a:r>
              <a:rPr b="0" sz="1700">
                <a:solidFill>
                  <a:srgbClr val="1F2937"/>
                </a:solidFill>
                <a:latin typeface="Calibri"/>
              </a:rPr>
              <a:t> — the only difference is how many features each may use.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226052"/>
            <a:ext cx="1109441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700">
                <a:solidFill>
                  <a:srgbClr val="1F2937"/>
                </a:solidFill>
                <a:latin typeface="Calibri"/>
              </a:rPr>
              <a:t>• Two experiments reported as </a:t>
            </a:r>
            <a:r>
              <a:rPr b="1" sz="1700">
                <a:solidFill>
                  <a:srgbClr val="1F2937"/>
                </a:solidFill>
                <a:latin typeface="Calibri"/>
              </a:rPr>
              <a:t>means over 5 seeds, ±1 SD</a:t>
            </a:r>
            <a:r>
              <a:rPr b="0" sz="1700">
                <a:solidFill>
                  <a:srgbClr val="1F2937"/>
                </a:solidFill>
                <a:latin typeface="Calibri"/>
              </a:rPr>
              <a:t> — variance-controlled.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48640"/>
            <a:ext cx="1109441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3000">
                <a:solidFill>
                  <a:srgbClr val="1F2937"/>
                </a:solidFill>
                <a:latin typeface="Calibri"/>
              </a:rPr>
              <a:t>Result 1 — the hand-set boundary is miscalibrated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109441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700">
                <a:solidFill>
                  <a:srgbClr val="1F2937"/>
                </a:solidFill>
                <a:latin typeface="Calibri"/>
              </a:rPr>
              <a:t>True zero-rate QBER boundary (ε = 10⁻¹⁰):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866900"/>
          <a:ext cx="11094415" cy="1536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98138"/>
                <a:gridCol w="3698138"/>
                <a:gridCol w="3698139"/>
              </a:tblGrid>
              <a:tr h="384048"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  <a:latin typeface="Calibri"/>
                        </a:rPr>
                        <a:t>Regime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  <a:latin typeface="Calibri"/>
                        </a:rPr>
                        <a:t>f_ec = 1.00 (ideal)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  <a:latin typeface="Calibri"/>
                        </a:rPr>
                        <a:t>f_ec = 1.16 (practical)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b="0" sz="1400">
                          <a:solidFill>
                            <a:srgbClr val="1F2937"/>
                          </a:solidFill>
                          <a:latin typeface="Calibri"/>
                        </a:rPr>
                        <a:t>Asymptotic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1400">
                          <a:solidFill>
                            <a:srgbClr val="1F2937"/>
                          </a:solidFill>
                          <a:latin typeface="Calibri"/>
                        </a:rPr>
                        <a:t>11.00%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1F2937"/>
                          </a:solidFill>
                          <a:latin typeface="Calibri"/>
                        </a:rPr>
                        <a:t>9.81%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b="0" sz="1400">
                          <a:solidFill>
                            <a:srgbClr val="1F2937"/>
                          </a:solidFill>
                          <a:latin typeface="Calibri"/>
                        </a:rPr>
                        <a:t>n = 10⁶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1400">
                          <a:solidFill>
                            <a:srgbClr val="1F2937"/>
                          </a:solidFill>
                          <a:latin typeface="Calibri"/>
                        </a:rPr>
                        <a:t>10.33%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1F2937"/>
                          </a:solidFill>
                          <a:latin typeface="Calibri"/>
                        </a:rPr>
                        <a:t>9.23%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b="0" sz="1400">
                          <a:solidFill>
                            <a:srgbClr val="1F2937"/>
                          </a:solidFill>
                          <a:latin typeface="Calibri"/>
                        </a:rPr>
                        <a:t>n = 10⁴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1400">
                          <a:solidFill>
                            <a:srgbClr val="1F2937"/>
                          </a:solidFill>
                          <a:latin typeface="Calibri"/>
                        </a:rPr>
                        <a:t>5.21%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1400">
                          <a:solidFill>
                            <a:srgbClr val="1F2937"/>
                          </a:solidFill>
                          <a:latin typeface="Calibri"/>
                        </a:rPr>
                        <a:t>4.70%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3585972"/>
            <a:ext cx="1109441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700">
                <a:solidFill>
                  <a:srgbClr val="1F2937"/>
                </a:solidFill>
                <a:latin typeface="Calibri"/>
              </a:rPr>
              <a:t>• </a:t>
            </a:r>
            <a:r>
              <a:rPr b="1" sz="1700">
                <a:solidFill>
                  <a:srgbClr val="1F2937"/>
                </a:solidFill>
                <a:latin typeface="Calibri"/>
              </a:rPr>
              <a:t>11% is recovered only in the ideal asymptotic case</a:t>
            </a:r>
            <a:r>
              <a:rPr b="0" sz="1700">
                <a:solidFill>
                  <a:srgbClr val="1F2937"/>
                </a:solidFill>
                <a:latin typeface="Calibri"/>
              </a:rPr>
              <a:t> — validating the pipeline.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934968"/>
            <a:ext cx="1109441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700">
                <a:solidFill>
                  <a:srgbClr val="1F2937"/>
                </a:solidFill>
                <a:latin typeface="Calibri"/>
              </a:rPr>
              <a:t>• With realistic reconciliation the true boundary is </a:t>
            </a:r>
            <a:r>
              <a:rPr b="1" sz="1700">
                <a:solidFill>
                  <a:srgbClr val="1F2937"/>
                </a:solidFill>
                <a:latin typeface="Calibri"/>
              </a:rPr>
              <a:t>9.81%</a:t>
            </a:r>
            <a:r>
              <a:rPr b="0" sz="1700">
                <a:solidFill>
                  <a:srgbClr val="1F2937"/>
                </a:solidFill>
                <a:latin typeface="Calibri"/>
              </a:rPr>
              <a:t>, and 9.23% at 10⁶ signals.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283964"/>
            <a:ext cx="11094415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700">
                <a:solidFill>
                  <a:srgbClr val="1F2937"/>
                </a:solidFill>
                <a:latin typeface="Calibri"/>
              </a:rPr>
              <a:t>• The stump's boundary is </a:t>
            </a:r>
            <a:r>
              <a:rPr b="1" sz="1700">
                <a:solidFill>
                  <a:srgbClr val="1F2937"/>
                </a:solidFill>
                <a:latin typeface="Calibri"/>
              </a:rPr>
              <a:t>offset by 1–6 points of QBER — always toward accepting insecure runs.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48640"/>
            <a:ext cx="1109441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3000">
                <a:solidFill>
                  <a:srgbClr val="1F2937"/>
                </a:solidFill>
                <a:latin typeface="Calibri"/>
              </a:rPr>
              <a:t>Result 2 — the cost of the fixed operating point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700">
                <a:solidFill>
                  <a:srgbClr val="1F2937"/>
                </a:solidFill>
                <a:latin typeface="Calibri"/>
              </a:rPr>
              <a:t>A fixed threshold is a fixed </a:t>
            </a:r>
            <a:r>
              <a:rPr b="1" sz="1700">
                <a:solidFill>
                  <a:srgbClr val="1F2937"/>
                </a:solidFill>
                <a:latin typeface="Calibri"/>
              </a:rPr>
              <a:t>operating point</a:t>
            </a:r>
            <a:r>
              <a:rPr b="0" sz="1700">
                <a:solidFill>
                  <a:srgbClr val="1F2937"/>
                </a:solidFill>
                <a:latin typeface="Calibri"/>
              </a:rPr>
              <a:t> — and operating points have asymmetric costs (cost-sensitive classification).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232660"/>
            <a:ext cx="1109441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700">
                <a:solidFill>
                  <a:srgbClr val="1F2937"/>
                </a:solidFill>
                <a:latin typeface="Calibri"/>
              </a:rPr>
              <a:t>• Net secure key rate hits zero at </a:t>
            </a:r>
            <a:r>
              <a:rPr b="1" sz="1700">
                <a:solidFill>
                  <a:srgbClr val="1F2937"/>
                </a:solidFill>
                <a:latin typeface="Calibri"/>
              </a:rPr>
              <a:t>QBER = 9.81%</a:t>
            </a:r>
            <a:r>
              <a:rPr b="0" sz="1700">
                <a:solidFill>
                  <a:srgbClr val="1F2937"/>
                </a:solidFill>
                <a:latin typeface="Calibri"/>
              </a:rPr>
              <a:t> — independently reproduces Result 1.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581656"/>
            <a:ext cx="1109441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700">
                <a:solidFill>
                  <a:srgbClr val="1F2937"/>
                </a:solidFill>
                <a:latin typeface="Calibri"/>
              </a:rPr>
              <a:t>• In an ETSI-QKD-014 key-pool model: break-even near </a:t>
            </a:r>
            <a:r>
              <a:rPr b="1" sz="1700">
                <a:solidFill>
                  <a:srgbClr val="1F2937"/>
                </a:solidFill>
                <a:latin typeface="Calibri"/>
              </a:rPr>
              <a:t>Q ≈ 3.8%</a:t>
            </a:r>
            <a:r>
              <a:rPr b="0" sz="1700">
                <a:solidFill>
                  <a:srgbClr val="1F2937"/>
                </a:solidFill>
                <a:latin typeface="Calibri"/>
              </a:rPr>
              <a:t>, zero production by </a:t>
            </a:r>
            <a:r>
              <a:rPr b="1" sz="1700">
                <a:solidFill>
                  <a:srgbClr val="1F2937"/>
                </a:solidFill>
                <a:latin typeface="Calibri"/>
              </a:rPr>
              <a:t>≈9.8%</a:t>
            </a:r>
            <a:r>
              <a:rPr b="0" sz="1700">
                <a:solidFill>
                  <a:srgbClr val="1F2937"/>
                </a:solidFill>
                <a:latin typeface="Calibri"/>
              </a:rPr>
              <a:t>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930652"/>
            <a:ext cx="11094415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700">
                <a:solidFill>
                  <a:srgbClr val="1F2937"/>
                </a:solidFill>
                <a:latin typeface="Calibri"/>
              </a:rPr>
              <a:t>• Accepting a run in the </a:t>
            </a:r>
            <a:r>
              <a:rPr b="1" sz="1700">
                <a:solidFill>
                  <a:srgbClr val="1F2937"/>
                </a:solidFill>
                <a:latin typeface="Calibri"/>
              </a:rPr>
              <a:t>9–11% band delivers zero usable key while reporting success</a:t>
            </a:r>
            <a:r>
              <a:rPr b="0" sz="1700">
                <a:solidFill>
                  <a:srgbClr val="1F2937"/>
                </a:solidFill>
                <a:latin typeface="Calibri"/>
              </a:rPr>
              <a:t> — starving every downstream consumer.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590544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700">
                <a:solidFill>
                  <a:srgbClr val="1F2937"/>
                </a:solidFill>
                <a:latin typeface="Calibri"/>
              </a:rPr>
              <a:t>A learned detector exposes a *tunable* operating point — the stump has one hard-wired split.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48640"/>
            <a:ext cx="1109441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3000">
                <a:solidFill>
                  <a:srgbClr val="1F2937"/>
                </a:solidFill>
                <a:latin typeface="Calibri"/>
              </a:rPr>
              <a:t>Result 3 — the multivariate classifier dominates (core result)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109441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700">
                <a:solidFill>
                  <a:srgbClr val="1F2937"/>
                </a:solidFill>
                <a:latin typeface="Calibri"/>
              </a:rPr>
              <a:t>Detection recall on </a:t>
            </a:r>
            <a:r>
              <a:rPr b="1" sz="1700">
                <a:solidFill>
                  <a:srgbClr val="1F2937"/>
                </a:solidFill>
                <a:latin typeface="Calibri"/>
              </a:rPr>
              <a:t>hard negatives</a:t>
            </a:r>
            <a:r>
              <a:rPr b="0" sz="1700">
                <a:solidFill>
                  <a:srgbClr val="1F2937"/>
                </a:solidFill>
                <a:latin typeface="Calibri"/>
              </a:rPr>
              <a:t> — attacks engineered to sit under the 11% split: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866900"/>
          <a:ext cx="11094415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73603"/>
                <a:gridCol w="2773603"/>
                <a:gridCol w="2773603"/>
                <a:gridCol w="2773606"/>
              </a:tblGrid>
              <a:tr h="384048"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  <a:latin typeface="Calibri"/>
                        </a:rPr>
                        <a:t>Intercept fraction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  <a:latin typeface="Calibri"/>
                        </a:rPr>
                        <a:t>Mean QBER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  <a:latin typeface="Calibri"/>
                        </a:rPr>
                        <a:t>Stump recall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  <a:latin typeface="Calibri"/>
                        </a:rPr>
                        <a:t>RF recall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b="0" sz="1400">
                          <a:solidFill>
                            <a:srgbClr val="1F2937"/>
                          </a:solidFill>
                          <a:latin typeface="Calibri"/>
                        </a:rPr>
                        <a:t>0.1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1400">
                          <a:solidFill>
                            <a:srgbClr val="1F2937"/>
                          </a:solidFill>
                          <a:latin typeface="Calibri"/>
                        </a:rPr>
                        <a:t>3.2%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1400">
                          <a:solidFill>
                            <a:srgbClr val="1F2937"/>
                          </a:solidFill>
                          <a:latin typeface="Calibri"/>
                        </a:rPr>
                        <a:t>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1400">
                          <a:solidFill>
                            <a:srgbClr val="1F2937"/>
                          </a:solidFill>
                          <a:latin typeface="Calibri"/>
                        </a:rPr>
                        <a:t>24% ± 9%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b="0" sz="1400">
                          <a:solidFill>
                            <a:srgbClr val="1F2937"/>
                          </a:solidFill>
                          <a:latin typeface="Calibri"/>
                        </a:rPr>
                        <a:t>0.2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1400">
                          <a:solidFill>
                            <a:srgbClr val="1F2937"/>
                          </a:solidFill>
                          <a:latin typeface="Calibri"/>
                        </a:rPr>
                        <a:t>5.5%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1400">
                          <a:solidFill>
                            <a:srgbClr val="1F2937"/>
                          </a:solidFill>
                          <a:latin typeface="Calibri"/>
                        </a:rPr>
                        <a:t>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1400">
                          <a:solidFill>
                            <a:srgbClr val="1F2937"/>
                          </a:solidFill>
                          <a:latin typeface="Calibri"/>
                        </a:rPr>
                        <a:t>73% ± 8%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b="0" sz="1400">
                          <a:solidFill>
                            <a:srgbClr val="1F2937"/>
                          </a:solidFill>
                          <a:latin typeface="Calibri"/>
                        </a:rPr>
                        <a:t>0.3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1400">
                          <a:solidFill>
                            <a:srgbClr val="1F2937"/>
                          </a:solidFill>
                          <a:latin typeface="Calibri"/>
                        </a:rPr>
                        <a:t>8.2%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1F2937"/>
                          </a:solidFill>
                          <a:latin typeface="Calibri"/>
                        </a:rPr>
                        <a:t>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1F2937"/>
                          </a:solidFill>
                          <a:latin typeface="Calibri"/>
                        </a:rPr>
                        <a:t>96% ± 5%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b="0" sz="1400">
                          <a:solidFill>
                            <a:srgbClr val="1F2937"/>
                          </a:solidFill>
                          <a:latin typeface="Calibri"/>
                        </a:rPr>
                        <a:t>0.4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1400">
                          <a:solidFill>
                            <a:srgbClr val="1F2937"/>
                          </a:solidFill>
                          <a:latin typeface="Calibri"/>
                        </a:rPr>
                        <a:t>11.0%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1400">
                          <a:solidFill>
                            <a:srgbClr val="1F2937"/>
                          </a:solidFill>
                          <a:latin typeface="Calibri"/>
                        </a:rPr>
                        <a:t>(aborts)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1400">
                          <a:solidFill>
                            <a:srgbClr val="1F2937"/>
                          </a:solidFill>
                          <a:latin typeface="Calibri"/>
                        </a:rPr>
                        <a:t>100%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39700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700">
                <a:solidFill>
                  <a:srgbClr val="1F2937"/>
                </a:solidFill>
                <a:latin typeface="Calibri"/>
              </a:rPr>
              <a:t>At 8.2% QBER the stump has </a:t>
            </a:r>
            <a:r>
              <a:rPr b="1" sz="1700">
                <a:solidFill>
                  <a:srgbClr val="1F2937"/>
                </a:solidFill>
                <a:latin typeface="Calibri"/>
              </a:rPr>
              <a:t>0% recall by construction</a:t>
            </a:r>
            <a:r>
              <a:rPr b="0" sz="1700">
                <a:solidFill>
                  <a:srgbClr val="1F2937"/>
                </a:solidFill>
                <a:latin typeface="Calibri"/>
              </a:rPr>
              <a:t>; the Random Forest — reading error variance, burst structure, and sift statistics — reaches </a:t>
            </a:r>
            <a:r>
              <a:rPr b="1" sz="1700">
                <a:solidFill>
                  <a:srgbClr val="1F2937"/>
                </a:solidFill>
                <a:latin typeface="Calibri"/>
              </a:rPr>
              <a:t>96%</a:t>
            </a:r>
            <a:r>
              <a:rPr b="0" sz="1700">
                <a:solidFill>
                  <a:srgbClr val="1F2937"/>
                </a:solidFill>
                <a:latin typeface="Calibri"/>
              </a:rPr>
              <a:t>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739640"/>
            <a:ext cx="1109441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700">
                <a:solidFill>
                  <a:srgbClr val="1F2937"/>
                </a:solidFill>
                <a:latin typeface="Calibri"/>
              </a:rPr>
              <a:t>A feature-engineering / representation win:</a:t>
            </a:r>
            <a:r>
              <a:rPr b="0" sz="1700">
                <a:solidFill>
                  <a:srgbClr val="1F2937"/>
                </a:solidFill>
                <a:latin typeface="Calibri"/>
              </a:rPr>
              <a:t> same runs, separable feature space.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48640"/>
            <a:ext cx="1109441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3000">
                <a:solidFill>
                  <a:srgbClr val="1F2937"/>
                </a:solidFill>
                <a:latin typeface="Calibri"/>
              </a:rPr>
              <a:t>Result 4 — robustness under co-evolutionary attack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700">
                <a:solidFill>
                  <a:srgbClr val="1F2937"/>
                </a:solidFill>
                <a:latin typeface="Calibri"/>
              </a:rPr>
              <a:t>The DEAP gym evolves bounded-perturbation, threshold-evading attacks over 20 generations (mean ± 1 SD, 5 seeds). Evasion = attacks let through.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2232660"/>
          <a:ext cx="11094415" cy="1536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47207"/>
                <a:gridCol w="5547208"/>
              </a:tblGrid>
              <a:tr h="384048"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  <a:latin typeface="Calibri"/>
                        </a:rPr>
                        <a:t>Defender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  <a:latin typeface="Calibri"/>
                        </a:rPr>
                        <a:t>Evasion (attack success)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b="0" sz="1400">
                          <a:solidFill>
                            <a:srgbClr val="1F2937"/>
                          </a:solidFill>
                          <a:latin typeface="Calibri"/>
                        </a:rPr>
                        <a:t>Static 11% stump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1F2937"/>
                          </a:solidFill>
                          <a:latin typeface="Calibri"/>
                        </a:rPr>
                        <a:t>34.5% ± 3.2%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b="0" sz="1400">
                          <a:solidFill>
                            <a:srgbClr val="1F2937"/>
                          </a:solidFill>
                          <a:latin typeface="Calibri"/>
                        </a:rPr>
                        <a:t>Learned RF, frozen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1400">
                          <a:solidFill>
                            <a:srgbClr val="1F2937"/>
                          </a:solidFill>
                          <a:latin typeface="Calibri"/>
                        </a:rPr>
                        <a:t>8.7% ± 3.8%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b="0" sz="1400">
                          <a:solidFill>
                            <a:srgbClr val="1F2937"/>
                          </a:solidFill>
                          <a:latin typeface="Calibri"/>
                        </a:rPr>
                        <a:t>Learned RF, retrained each gen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1400">
                          <a:solidFill>
                            <a:srgbClr val="1F2937"/>
                          </a:solidFill>
                          <a:latin typeface="Calibri"/>
                        </a:rPr>
                        <a:t>8.8% ± 2.1%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3951732"/>
            <a:ext cx="1109441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700">
                <a:solidFill>
                  <a:srgbClr val="1F2937"/>
                </a:solidFill>
                <a:latin typeface="Calibri"/>
              </a:rPr>
              <a:t>• Attacker genuinely improves (fitness ~0.03 → ~0.8), yet learned defenders hold at </a:t>
            </a:r>
            <a:r>
              <a:rPr b="1" sz="1700">
                <a:solidFill>
                  <a:srgbClr val="1F2937"/>
                </a:solidFill>
                <a:latin typeface="Calibri"/>
              </a:rPr>
              <a:t>6–9%</a:t>
            </a:r>
            <a:r>
              <a:rPr b="0" sz="1700">
                <a:solidFill>
                  <a:srgbClr val="1F2937"/>
                </a:solidFill>
                <a:latin typeface="Calibri"/>
              </a:rPr>
              <a:t>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300728"/>
            <a:ext cx="1109441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700">
                <a:solidFill>
                  <a:srgbClr val="1F2937"/>
                </a:solidFill>
                <a:latin typeface="Calibri"/>
              </a:rPr>
              <a:t>• </a:t>
            </a:r>
            <a:r>
              <a:rPr b="1" sz="1700">
                <a:solidFill>
                  <a:srgbClr val="1F2937"/>
                </a:solidFill>
                <a:latin typeface="Calibri"/>
              </a:rPr>
              <a:t>25.7-point gap</a:t>
            </a:r>
            <a:r>
              <a:rPr b="0" sz="1700">
                <a:solidFill>
                  <a:srgbClr val="1F2937"/>
                </a:solidFill>
                <a:latin typeface="Calibri"/>
              </a:rPr>
              <a:t> &gt; 3× the combined noise → statistically decisive.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48640"/>
            <a:ext cx="1109441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3000">
                <a:solidFill>
                  <a:srgbClr val="1F2937"/>
                </a:solidFill>
                <a:latin typeface="Calibri"/>
              </a:rPr>
              <a:t>An honest ML qualification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109441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700">
                <a:solidFill>
                  <a:srgbClr val="1F2937"/>
                </a:solidFill>
                <a:latin typeface="Calibri"/>
              </a:rPr>
              <a:t>Adversarial retraining did *not* beat the frozen baseline</a:t>
            </a:r>
            <a:r>
              <a:rPr b="0" sz="1700">
                <a:solidFill>
                  <a:srgbClr val="1F2937"/>
                </a:solidFill>
                <a:latin typeface="Calibri"/>
              </a:rPr>
              <a:t> (8.8% vs 8.7%, within noise).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66900"/>
            <a:ext cx="1109441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700">
                <a:solidFill>
                  <a:srgbClr val="1F2937"/>
                </a:solidFill>
                <a:latin typeface="Calibri"/>
              </a:rPr>
              <a:t>• Against this bounded-perturbation attacker, the RF is already near its robustness floor.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215896"/>
            <a:ext cx="1109441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700">
                <a:solidFill>
                  <a:srgbClr val="1F2937"/>
                </a:solidFill>
                <a:latin typeface="Calibri"/>
              </a:rPr>
              <a:t>• The advantage comes from the </a:t>
            </a:r>
            <a:r>
              <a:rPr b="1" sz="1700">
                <a:solidFill>
                  <a:srgbClr val="1F2937"/>
                </a:solidFill>
                <a:latin typeface="Calibri"/>
              </a:rPr>
              <a:t>representation</a:t>
            </a:r>
            <a:r>
              <a:rPr b="0" sz="1700">
                <a:solidFill>
                  <a:srgbClr val="1F2937"/>
                </a:solidFill>
                <a:latin typeface="Calibri"/>
              </a:rPr>
              <a:t> (multivariate features) 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564892"/>
            <a:ext cx="1109441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700">
                <a:solidFill>
                  <a:srgbClr val="1F2937"/>
                </a:solidFill>
                <a:latin typeface="Calibri"/>
              </a:rPr>
              <a:t>not</a:t>
            </a:r>
            <a:r>
              <a:rPr b="0" sz="1700">
                <a:solidFill>
                  <a:srgbClr val="1F2937"/>
                </a:solidFill>
                <a:latin typeface="Calibri"/>
              </a:rPr>
              <a:t> from the co-evolutionary hardening loop.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968752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700">
                <a:solidFill>
                  <a:srgbClr val="1F2937"/>
                </a:solidFill>
                <a:latin typeface="Calibri"/>
              </a:rPr>
              <a:t>&gt; This distinction is only visible </a:t>
            </a:r>
            <a:r>
              <a:rPr b="1" sz="1700">
                <a:solidFill>
                  <a:srgbClr val="1F2937"/>
                </a:solidFill>
                <a:latin typeface="Calibri"/>
              </a:rPr>
              <a:t>because of the multi-seed error bars.</a:t>
            </a:r>
            <a:r>
              <a:rPr b="0" sz="1700">
                <a:solidFill>
                  <a:srgbClr val="1F2937"/>
                </a:solidFill>
                <a:latin typeface="Calibri"/>
              </a:rPr>
              <a:t> &gt; The win is a feature effect, stated precisely.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48640"/>
            <a:ext cx="1109441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3000">
                <a:solidFill>
                  <a:srgbClr val="1F2937"/>
                </a:solidFill>
                <a:latin typeface="Calibri"/>
              </a:rPr>
              <a:t>Synthesis — four ML claims, one argument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463040"/>
          <a:ext cx="11094415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98138"/>
                <a:gridCol w="3698138"/>
                <a:gridCol w="3698139"/>
              </a:tblGrid>
              <a:tr h="384048"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  <a:latin typeface="Calibri"/>
                        </a:rPr>
                        <a:t>ML claim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  <a:latin typeface="Calibri"/>
                        </a:rPr>
                        <a:t>Result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b="0" sz="1400">
                          <a:solidFill>
                            <a:srgbClr val="1F2937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1400">
                          <a:solidFill>
                            <a:srgbClr val="1F2937"/>
                          </a:solidFill>
                          <a:latin typeface="Calibri"/>
                        </a:rPr>
                        <a:t>Boundary is </a:t>
                      </a:r>
                      <a:r>
                        <a:rPr b="1" sz="1400">
                          <a:solidFill>
                            <a:srgbClr val="1F2937"/>
                          </a:solidFill>
                          <a:latin typeface="Calibri"/>
                        </a:rPr>
                        <a:t>miscalibrated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1400">
                          <a:solidFill>
                            <a:srgbClr val="1F2937"/>
                          </a:solidFill>
                          <a:latin typeface="Calibri"/>
                        </a:rPr>
                        <a:t>11% → true 9.81%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b="0" sz="1400">
                          <a:solidFill>
                            <a:srgbClr val="1F2937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1400">
                          <a:solidFill>
                            <a:srgbClr val="1F2937"/>
                          </a:solidFill>
                          <a:latin typeface="Calibri"/>
                        </a:rPr>
                        <a:t>Fixed operating point has a </a:t>
                      </a:r>
                      <a:r>
                        <a:rPr b="1" sz="1400">
                          <a:solidFill>
                            <a:srgbClr val="1F2937"/>
                          </a:solidFill>
                          <a:latin typeface="Calibri"/>
                        </a:rPr>
                        <a:t>cost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1400">
                          <a:solidFill>
                            <a:srgbClr val="1F2937"/>
                          </a:solidFill>
                          <a:latin typeface="Calibri"/>
                        </a:rPr>
                        <a:t>zero key in 9–11% band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b="0" sz="1400">
                          <a:solidFill>
                            <a:srgbClr val="1F2937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1F2937"/>
                          </a:solidFill>
                          <a:latin typeface="Calibri"/>
                        </a:rPr>
                        <a:t>Representation</a:t>
                      </a:r>
                      <a:r>
                        <a:rPr b="0" sz="1400">
                          <a:solidFill>
                            <a:srgbClr val="1F2937"/>
                          </a:solidFill>
                          <a:latin typeface="Calibri"/>
                        </a:rPr>
                        <a:t> recovers hard negatives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1400">
                          <a:solidFill>
                            <a:srgbClr val="1F2937"/>
                          </a:solidFill>
                          <a:latin typeface="Calibri"/>
                        </a:rPr>
                        <a:t>0% → 96% recall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b="0" sz="1400">
                          <a:solidFill>
                            <a:srgbClr val="1F2937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1400">
                          <a:solidFill>
                            <a:srgbClr val="1F2937"/>
                          </a:solidFill>
                          <a:latin typeface="Calibri"/>
                        </a:rPr>
                        <a:t>Learned detector is </a:t>
                      </a:r>
                      <a:r>
                        <a:rPr b="1" sz="1400">
                          <a:solidFill>
                            <a:srgbClr val="1F2937"/>
                          </a:solidFill>
                          <a:latin typeface="Calibri"/>
                        </a:rPr>
                        <a:t>adversarially robust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1400">
                          <a:solidFill>
                            <a:srgbClr val="1F2937"/>
                          </a:solidFill>
                          <a:latin typeface="Calibri"/>
                        </a:rPr>
                        <a:t>34.5% → 8.7% evasion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48640" y="3566160"/>
            <a:ext cx="1109441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700">
                <a:solidFill>
                  <a:srgbClr val="1F2937"/>
                </a:solidFill>
                <a:latin typeface="Calibri"/>
              </a:rPr>
              <a:t>Contribution — a learning result, not a cryptographic one:</a:t>
            </a:r>
            <a:r>
              <a:rPr b="0" sz="1700">
                <a:solidFill>
                  <a:srgbClr val="1F2937"/>
                </a:solidFill>
                <a:latin typeface="Calibri"/>
              </a:rPr>
              <a:t> a calibrated, feature-rich, adversarially-evaluated classifier dominates a hand-set threshold on a real security-detection task, with quantified margins.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48640"/>
            <a:ext cx="1109441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3000">
                <a:solidFill>
                  <a:srgbClr val="1F2937"/>
                </a:solidFill>
                <a:latin typeface="Calibri"/>
              </a:rPr>
              <a:t>Recommendation — an adaptive abort criterion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109441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700">
                <a:solidFill>
                  <a:srgbClr val="1F2937"/>
                </a:solidFill>
                <a:latin typeface="Calibri"/>
              </a:rPr>
              <a:t>Replace the static 11% policy with a </a:t>
            </a:r>
            <a:r>
              <a:rPr b="1" sz="1700">
                <a:solidFill>
                  <a:srgbClr val="1F2937"/>
                </a:solidFill>
                <a:latin typeface="Calibri"/>
              </a:rPr>
              <a:t>calibrated, tunable operating point</a:t>
            </a:r>
            <a:r>
              <a:rPr b="0" sz="1700">
                <a:solidFill>
                  <a:srgbClr val="1F2937"/>
                </a:solidFill>
                <a:latin typeface="Calibri"/>
              </a:rPr>
              <a:t>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66900"/>
            <a:ext cx="11094415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700">
                <a:solidFill>
                  <a:srgbClr val="1F2937"/>
                </a:solidFill>
                <a:latin typeface="Calibri"/>
              </a:rPr>
              <a:t>Calibrate</a:t>
            </a:r>
            <a:r>
              <a:rPr b="0" sz="1700">
                <a:solidFill>
                  <a:srgbClr val="1F2937"/>
                </a:solidFill>
                <a:latin typeface="Calibri"/>
              </a:rPr>
              <a:t> to the true zero-rate boundary for the deployment's f_ec and block size (≤ 9.81%, not 11%).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526792"/>
            <a:ext cx="1109441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700">
                <a:solidFill>
                  <a:srgbClr val="1F2937"/>
                </a:solidFill>
                <a:latin typeface="Calibri"/>
              </a:rPr>
              <a:t>Choose</a:t>
            </a:r>
            <a:r>
              <a:rPr b="0" sz="1700">
                <a:solidFill>
                  <a:srgbClr val="1F2937"/>
                </a:solidFill>
                <a:latin typeface="Calibri"/>
              </a:rPr>
              <a:t> the operating point that meets an explicit false-accept budget.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875788"/>
            <a:ext cx="1109441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700">
                <a:solidFill>
                  <a:srgbClr val="1F2937"/>
                </a:solidFill>
                <a:latin typeface="Calibri"/>
              </a:rPr>
              <a:t>Gain</a:t>
            </a:r>
            <a:r>
              <a:rPr b="0" sz="1700">
                <a:solidFill>
                  <a:srgbClr val="1F2937"/>
                </a:solidFill>
                <a:latin typeface="Calibri"/>
              </a:rPr>
              <a:t> the sub-threshold recall (Result 3) that no QBER-only threshold can reach.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224784"/>
            <a:ext cx="1109441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700">
                <a:solidFill>
                  <a:srgbClr val="1F2937"/>
                </a:solidFill>
                <a:latin typeface="Calibri"/>
              </a:rPr>
              <a:t>Turns "abort at 11%" from an inherited constant into a </a:t>
            </a:r>
            <a:r>
              <a:rPr b="1" sz="1700">
                <a:solidFill>
                  <a:srgbClr val="1F2937"/>
                </a:solidFill>
                <a:latin typeface="Calibri"/>
              </a:rPr>
              <a:t>deliberate, auditable choice.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48640"/>
            <a:ext cx="1109441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3000">
                <a:solidFill>
                  <a:srgbClr val="1F2937"/>
                </a:solidFill>
                <a:latin typeface="Calibri"/>
              </a:rPr>
              <a:t>References &amp; 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109441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700">
                <a:solidFill>
                  <a:srgbClr val="1F2937"/>
                </a:solidFill>
                <a:latin typeface="Calibri"/>
              </a:rPr>
              <a:t>Reviewed papers (≤ 2005, directly related):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66900"/>
            <a:ext cx="1109441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700">
                <a:solidFill>
                  <a:srgbClr val="1F2937"/>
                </a:solidFill>
                <a:latin typeface="Calibri"/>
              </a:rPr>
              <a:t>• </a:t>
            </a:r>
            <a:r>
              <a:rPr b="1" sz="1700">
                <a:solidFill>
                  <a:srgbClr val="1F2937"/>
                </a:solidFill>
                <a:latin typeface="Calibri"/>
              </a:rPr>
              <a:t>[1]</a:t>
            </a:r>
            <a:r>
              <a:rPr b="0" sz="1700">
                <a:solidFill>
                  <a:srgbClr val="1F2937"/>
                </a:solidFill>
                <a:latin typeface="Calibri"/>
              </a:rPr>
              <a:t> Dalvi, Domingos, Mausam, Sanghai, Verma — Adversarial Classification, KDD 2004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215896"/>
            <a:ext cx="1109441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700">
                <a:solidFill>
                  <a:srgbClr val="1F2937"/>
                </a:solidFill>
                <a:latin typeface="Calibri"/>
              </a:rPr>
              <a:t>• </a:t>
            </a:r>
            <a:r>
              <a:rPr b="1" sz="1700">
                <a:solidFill>
                  <a:srgbClr val="1F2937"/>
                </a:solidFill>
                <a:latin typeface="Calibri"/>
              </a:rPr>
              <a:t>[2]</a:t>
            </a:r>
            <a:r>
              <a:rPr b="0" sz="1700">
                <a:solidFill>
                  <a:srgbClr val="1F2937"/>
                </a:solidFill>
                <a:latin typeface="Calibri"/>
              </a:rPr>
              <a:t> Shor &amp; Preskill — Simple Proof of Security of BB84, Phys. Rev. Lett. 85, 441 (2000)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564892"/>
            <a:ext cx="1109441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700">
                <a:solidFill>
                  <a:srgbClr val="1F2937"/>
                </a:solidFill>
                <a:latin typeface="Calibri"/>
              </a:rPr>
              <a:t>Supporting:</a:t>
            </a:r>
            <a:r>
              <a:rPr b="0" sz="1700">
                <a:solidFill>
                  <a:srgbClr val="1F2937"/>
                </a:solidFill>
                <a:latin typeface="Calibri"/>
              </a:rPr>
              <a:t> Goodfellow et al. — Adversarial Examples (ICLR 2015); GANs (NeurIPS 2014)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968752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700">
                <a:solidFill>
                  <a:srgbClr val="1F2937"/>
                </a:solidFill>
                <a:latin typeface="Calibri"/>
              </a:rPr>
              <a:t>Scope:</a:t>
            </a:r>
            <a:r>
              <a:rPr b="0" sz="1700">
                <a:solidFill>
                  <a:srgbClr val="1F2937"/>
                </a:solidFill>
                <a:latin typeface="Calibri"/>
              </a:rPr>
              <a:t> BB84 with one-way post-processing (where the 11% bound applies). All results reproducible from </a:t>
            </a:r>
            <a:r>
              <a:rPr sz="1500">
                <a:solidFill>
                  <a:srgbClr val="1F2937"/>
                </a:solidFill>
                <a:latin typeface="Menlo"/>
              </a:rPr>
              <a:t>thesis_experiments/</a:t>
            </a:r>
            <a:r>
              <a:rPr b="0" sz="1700">
                <a:solidFill>
                  <a:srgbClr val="1F2937"/>
                </a:solidFill>
                <a:latin typeface="Calibri"/>
              </a:rPr>
              <a:t>, </a:t>
            </a:r>
            <a:r>
              <a:rPr sz="1500">
                <a:solidFill>
                  <a:srgbClr val="1F2937"/>
                </a:solidFill>
                <a:latin typeface="Menlo"/>
              </a:rPr>
              <a:t>thesis_data/</a:t>
            </a:r>
            <a:r>
              <a:rPr b="0" sz="1700">
                <a:solidFill>
                  <a:srgbClr val="1F2937"/>
                </a:solidFill>
                <a:latin typeface="Calibri"/>
              </a:rPr>
              <a:t>, </a:t>
            </a:r>
            <a:r>
              <a:rPr sz="1500">
                <a:solidFill>
                  <a:srgbClr val="1F2937"/>
                </a:solidFill>
                <a:latin typeface="Menlo"/>
              </a:rPr>
              <a:t>thesis_figures/</a:t>
            </a:r>
            <a:r>
              <a:rPr b="0" sz="1700">
                <a:solidFill>
                  <a:srgbClr val="1F2937"/>
                </a:solidFill>
                <a:latin typeface="Calibri"/>
              </a:rPr>
              <a:t>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