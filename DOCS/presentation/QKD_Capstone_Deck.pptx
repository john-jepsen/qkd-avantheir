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2.png"/><Relationship Id="rId4" Type="http://schemas.openxmlformats.org/officeDocument/2006/relationships/image" Target="../media/image-14-2.png"/><Relationship Id="rId5" Type="http://schemas.openxmlformats.org/officeDocument/2006/relationships/image" Target="../media/image-1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optimistic-admiring-gates/deckbuild/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18745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S C S   C A P S T O N 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224028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Key Distribution</a:t>
            </a:r>
            <a:br/>
            <a:r>
              <a:rPr lang="en-US" sz="40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Enterprise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3977640"/>
            <a:ext cx="9875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Integrating QKD into TLS 1.3, IPsec/IKEv2, and Service Mesh Authentication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4983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Jepsen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Threat: Harvest Now, Decrypt Later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777240" y="1572768"/>
            <a:ext cx="713232" cy="713232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4" name="Image 0" descr="/sessions/optimistic-admiring-gates/deckbuild/asset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416" y="1743944"/>
            <a:ext cx="370881" cy="3708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10512" y="1408176"/>
            <a:ext cx="9390888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now, decrypt later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Adversaries record encrypted traffic today and decrypt it once a cryptographically relevant quantum computer exists.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777240" y="2779776"/>
            <a:ext cx="713232" cy="713232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7" name="Image 1" descr="/sessions/optimistic-admiring-gates/deckbuild/asset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416" y="2950952"/>
            <a:ext cx="370881" cy="37088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10512" y="2615184"/>
            <a:ext cx="9390888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Shor's algorithm breaks the key exchange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Diffie-Hellman/ECDHE falls — AES-256 survives, but the key agreement doesn't.</a:t>
            </a:r>
            <a:endParaRPr lang="en-US" sz="1650" dirty="0"/>
          </a:p>
        </p:txBody>
      </p:sp>
      <p:sp>
        <p:nvSpPr>
          <p:cNvPr id="9" name="Shape 5"/>
          <p:cNvSpPr/>
          <p:nvPr/>
        </p:nvSpPr>
        <p:spPr>
          <a:xfrm>
            <a:off x="777240" y="3986784"/>
            <a:ext cx="713232" cy="713232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0" name="Image 2" descr="/sessions/optimistic-admiring-gates/deckbuild/asset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416" y="4157960"/>
            <a:ext cx="370881" cy="37088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810512" y="3822192"/>
            <a:ext cx="9390888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Long-lived data is already exposed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data with a shelf life longer than the quantum timeline is already at risk.</a:t>
            </a:r>
            <a:endParaRPr lang="en-US" sz="1650" dirty="0"/>
          </a:p>
        </p:txBody>
      </p:sp>
      <p:sp>
        <p:nvSpPr>
          <p:cNvPr id="12" name="Shape 7"/>
          <p:cNvSpPr/>
          <p:nvPr/>
        </p:nvSpPr>
        <p:spPr>
          <a:xfrm>
            <a:off x="777240" y="5193792"/>
            <a:ext cx="713232" cy="713232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3" name="Image 3" descr="/sessions/optimistic-admiring-gates/deckbuild/assets/ale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416" y="5364968"/>
            <a:ext cx="370881" cy="37088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810512" y="5029200"/>
            <a:ext cx="9390888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operational concern — now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Quantum-safe key exchange is a deployment problem today, not a research topic for later.</a:t>
            </a:r>
            <a:endParaRPr lang="en-US" sz="1650" dirty="0"/>
          </a:p>
        </p:txBody>
      </p:sp>
      <p:sp>
        <p:nvSpPr>
          <p:cNvPr id="15" name="Text 9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Answers — Not Either/Or</a:t>
            </a:r>
            <a:endParaRPr lang="en-US" sz="3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914400"/>
        </p:xfrm>
        <a:graphic>
          <a:graphicData uri="http://schemas.openxmlformats.org/drawingml/2006/table">
            <a:tbl>
              <a:tblPr/>
              <a:tblGrid>
                <a:gridCol w="2130552"/>
                <a:gridCol w="4389120"/>
                <a:gridCol w="4389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8B7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Post-Quantum Cryptography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3EE0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Quantum Key Distribution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basis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Computational hardness (lattices)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Physics (no-cloning theorem)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upgrade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fiber + hardware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Unlimited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~100–500 km per link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NIST FIPS 203/204/205 finalized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Commercial, certification gaps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25780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914400" y="52578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Thesis:  </a:t>
            </a:r>
            <a:pPr indent="0" marL="0">
              <a:buNone/>
            </a:pPr>
            <a:r>
              <a:rPr lang="en-US" sz="14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where each fits — and demonstrate the hybrid QKD + PQC architecture (ETSI TS 104 015) for highest-assurance deployments.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96112" y="1673352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5" name="Image 0" descr="/sessions/optimistic-admiring-gates/deckbuild/assets/d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953" y="1818193"/>
            <a:ext cx="313822" cy="3138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96112" y="2395728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suite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96112" y="2761488"/>
            <a:ext cx="29900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practitioner documents: protocol foundations, TLS/IPsec/mesh integration patterns, key management, 8 vendor profiles, operational constraints.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43400" y="141732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99432" y="1673352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0" name="Image 1" descr="/sessions/optimistic-admiring-gates/deckbuild/assets/a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73" y="1818193"/>
            <a:ext cx="313822" cy="31382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99432" y="2395728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implementation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4599432" y="2761488"/>
            <a:ext cx="29900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QKD key-delivery pipeline in Python: BB84 on IBM Qiskit → ETSI QKD 014 key server → applications.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046720" y="141732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02752" y="1673352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5" name="Image 2" descr="/sessions/optimistic-admiring-gates/deckbuild/assets/ch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7593" y="1818193"/>
            <a:ext cx="313822" cy="31382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02752" y="2395728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adaptive security layer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8302752" y="2761488"/>
            <a:ext cx="29900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models in a closed loop behind a FastAPI service.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40080" y="393192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96112" y="4206240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20" name="Image 3" descr="/sessions/optimistic-admiring-gates/deckbuild/assets/targ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953" y="4351081"/>
            <a:ext cx="313822" cy="31382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64208" y="4242816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gym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1664208" y="486460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Co-evolutionary attacker/defender arena with a live React dashboard.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190488" y="393192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46520" y="4206240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25" name="Image 4" descr="/sessions/optimistic-admiring-gates/deckbuild/assets/pack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1361" y="4351081"/>
            <a:ext cx="313822" cy="31382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214616" y="4242816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qkdsec — released to PyPI</a:t>
            </a:r>
            <a:endParaRPr lang="en-US" sz="1550" dirty="0"/>
          </a:p>
        </p:txBody>
      </p:sp>
      <p:sp>
        <p:nvSpPr>
          <p:cNvPr id="27" name="Text 20"/>
          <p:cNvSpPr/>
          <p:nvPr/>
        </p:nvSpPr>
        <p:spPr>
          <a:xfrm>
            <a:off x="7214616" y="486460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pip-installable open-source package: ETSI 014 client, key-rate proofs, BB84 simulator.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BB84 in 60 Seconds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481328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121B41"/>
          </a:solidFill>
          <a:ln w="15875">
            <a:solidFill>
              <a:srgbClr val="3EE0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29800" y="1481328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121B41"/>
          </a:solidFill>
          <a:ln w="15875">
            <a:solidFill>
              <a:srgbClr val="8B7C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514600" y="1810512"/>
            <a:ext cx="7132320" cy="0"/>
          </a:xfrm>
          <a:prstGeom prst="line">
            <a:avLst/>
          </a:prstGeom>
          <a:noFill/>
          <a:ln w="19050">
            <a:solidFill>
              <a:srgbClr val="3EE0F0"/>
            </a:solidFill>
            <a:prstDash val="dash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1760220"/>
            <a:ext cx="100584" cy="1005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4526280" y="1760220"/>
            <a:ext cx="100584" cy="1005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1760220"/>
            <a:ext cx="100584" cy="1005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6995160" y="1760220"/>
            <a:ext cx="100584" cy="1005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0" y="1760220"/>
            <a:ext cx="100584" cy="1005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097280"/>
            <a:ext cx="7132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photons · random bits in random bases  (X/H gates, Qiskit Aer)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2606040"/>
            <a:ext cx="384048" cy="384048"/>
          </a:xfrm>
          <a:prstGeom prst="ellipse">
            <a:avLst/>
          </a:prstGeom>
          <a:solidFill>
            <a:srgbClr val="3EE0F0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2386584"/>
            <a:ext cx="45720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encodes random bits in random bases — real quantum circuits on the Qiskit Aer simulator.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3685032"/>
            <a:ext cx="384048" cy="384048"/>
          </a:xfrm>
          <a:prstGeom prst="ellipse">
            <a:avLst/>
          </a:prstGeom>
          <a:solidFill>
            <a:srgbClr val="3EE0F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685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465576"/>
            <a:ext cx="45720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sift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measures in his own random bases; they keep only matching-basis bits.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77240" y="4764024"/>
            <a:ext cx="384048" cy="384048"/>
          </a:xfrm>
          <a:prstGeom prst="ellipse">
            <a:avLst/>
          </a:prstGeom>
          <a:solidFill>
            <a:srgbClr val="3EE0F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764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4544568"/>
            <a:ext cx="45720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QBER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sacrifice a sample of bits to estimate the quantum bit error rate.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400800" y="2606040"/>
            <a:ext cx="384048" cy="384048"/>
          </a:xfrm>
          <a:prstGeom prst="ellipse">
            <a:avLst/>
          </a:prstGeom>
          <a:solidFill>
            <a:srgbClr val="3EE0F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949440" y="2386584"/>
            <a:ext cx="45720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— by physics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Intercept-resend forces ~25% QBER from wrong-basis collapse; the protocol aborts above the 11% threshold.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400800" y="3685032"/>
            <a:ext cx="384048" cy="384048"/>
          </a:xfrm>
          <a:prstGeom prst="ellipse">
            <a:avLst/>
          </a:prstGeom>
          <a:solidFill>
            <a:srgbClr val="3EE0F0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3685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49440" y="3465576"/>
            <a:ext cx="45720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error correction + privacy amplification → 256-bit shared secret.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40080" y="5806440"/>
            <a:ext cx="10908792" cy="658368"/>
          </a:xfrm>
          <a:prstGeom prst="roundRect">
            <a:avLst>
              <a:gd name="adj" fmla="val 12500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5806440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classical key agreement anywhere in the flow.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85800" y="1920240"/>
            <a:ext cx="2395728" cy="1143000"/>
          </a:xfrm>
          <a:prstGeom prst="roundRect">
            <a:avLst>
              <a:gd name="adj" fmla="val 7200"/>
            </a:avLst>
          </a:prstGeom>
          <a:solidFill>
            <a:srgbClr val="121B41"/>
          </a:solidFill>
          <a:ln w="19050">
            <a:solidFill>
              <a:srgbClr val="3EE0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920240"/>
            <a:ext cx="2395728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BB84 source</a:t>
            </a:r>
            <a:endParaRPr lang="en-US" sz="15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Qiskit Aer</a:t>
            </a:r>
            <a:endParaRPr lang="en-US" sz="15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circuits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3118104" y="2491740"/>
            <a:ext cx="310896" cy="0"/>
          </a:xfrm>
          <a:prstGeom prst="line">
            <a:avLst/>
          </a:prstGeom>
          <a:noFill/>
          <a:ln w="25400">
            <a:solidFill>
              <a:srgbClr val="9FB0D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465576" y="1920240"/>
            <a:ext cx="2395728" cy="1143000"/>
          </a:xfrm>
          <a:prstGeom prst="roundRect">
            <a:avLst>
              <a:gd name="adj" fmla="val 7200"/>
            </a:avLst>
          </a:prstGeom>
          <a:solidFill>
            <a:srgbClr val="121B41"/>
          </a:solidFill>
          <a:ln w="19050">
            <a:solidFill>
              <a:srgbClr val="3EE0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65576" y="1920240"/>
            <a:ext cx="2395728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</a:t>
            </a:r>
            <a:endParaRPr lang="en-US" sz="15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sift → QBER →</a:t>
            </a:r>
            <a:endParaRPr lang="en-US" sz="15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→ amplify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897880" y="2491740"/>
            <a:ext cx="310896" cy="0"/>
          </a:xfrm>
          <a:prstGeom prst="line">
            <a:avLst/>
          </a:prstGeom>
          <a:noFill/>
          <a:ln w="25400">
            <a:solidFill>
              <a:srgbClr val="9FB0D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245352" y="1920240"/>
            <a:ext cx="2395728" cy="1143000"/>
          </a:xfrm>
          <a:prstGeom prst="roundRect">
            <a:avLst>
              <a:gd name="adj" fmla="val 7200"/>
            </a:avLst>
          </a:prstGeom>
          <a:solidFill>
            <a:srgbClr val="121B41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45352" y="1920240"/>
            <a:ext cx="2395728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</a:t>
            </a:r>
            <a:endParaRPr lang="en-US" sz="15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 GS QKD 014</a:t>
            </a:r>
            <a:endParaRPr lang="en-US" sz="15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(Flask)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677656" y="2491740"/>
            <a:ext cx="310896" cy="0"/>
          </a:xfrm>
          <a:prstGeom prst="line">
            <a:avLst/>
          </a:prstGeom>
          <a:noFill/>
          <a:ln w="25400">
            <a:solidFill>
              <a:srgbClr val="9FB0D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25128" y="1920240"/>
            <a:ext cx="2395728" cy="1143000"/>
          </a:xfrm>
          <a:prstGeom prst="roundRect">
            <a:avLst>
              <a:gd name="adj" fmla="val 7200"/>
            </a:avLst>
          </a:prstGeom>
          <a:solidFill>
            <a:srgbClr val="121B41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25128" y="1920240"/>
            <a:ext cx="2395728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5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· IPsec ·</a:t>
            </a:r>
            <a:endParaRPr lang="en-US" sz="15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mesh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934456" y="3429000"/>
            <a:ext cx="3017520" cy="402336"/>
          </a:xfrm>
          <a:prstGeom prst="roundRect">
            <a:avLst>
              <a:gd name="adj" fmla="val 45455"/>
            </a:avLst>
          </a:prstGeom>
          <a:solidFill>
            <a:srgbClr val="0E1634"/>
          </a:solidFill>
          <a:ln w="12700">
            <a:solidFill>
              <a:srgbClr val="26365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/enc_keys → key_ID + key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34456" y="3931920"/>
            <a:ext cx="3017520" cy="402336"/>
          </a:xfrm>
          <a:prstGeom prst="roundRect">
            <a:avLst>
              <a:gd name="adj" fmla="val 45455"/>
            </a:avLst>
          </a:prstGeom>
          <a:solidFill>
            <a:srgbClr val="0E1634"/>
          </a:solidFill>
          <a:ln w="12700">
            <a:solidFill>
              <a:srgbClr val="26365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/dec_keys → key by ID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443216" y="3063240"/>
            <a:ext cx="0" cy="347472"/>
          </a:xfrm>
          <a:prstGeom prst="line">
            <a:avLst/>
          </a:prstGeom>
          <a:noFill/>
          <a:ln w="19050">
            <a:solidFill>
              <a:srgbClr val="9FB0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800600"/>
            <a:ext cx="566928" cy="566928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8" name="Image 0" descr="/sessions/optimistic-admiring-gates/deckbuild/assets/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4936663"/>
            <a:ext cx="294803" cy="294803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664208" y="4636008"/>
            <a:ext cx="972007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interface, simulation or hardware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ETSI 014 interface is identical for both — vendor adapters (Toshiba, IDQ, QuintessenceLabs, QuantumCTek) plug in via --upstream-kme.</a:t>
            </a: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777240" y="5760720"/>
            <a:ext cx="566928" cy="566928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21" name="Image 1" descr="/sessions/optimistic-admiring-gates/deckbuild/assets/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303" y="5896783"/>
            <a:ext cx="294803" cy="294803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64208" y="5596128"/>
            <a:ext cx="972007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a single fiber link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trusted-node XOR relay network extends range past one span.</a:t>
            </a:r>
            <a:endParaRPr lang="en-US" sz="1650" dirty="0"/>
          </a:p>
        </p:txBody>
      </p:sp>
      <p:sp>
        <p:nvSpPr>
          <p:cNvPr id="23" name="Text 19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Targets 1 &amp; 2 — TLS 1.3 and IPsec/IKEv2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91640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5" name="Image 0" descr="/sessions/optimistic-admiring-gates/deckbuild/asset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9241" y="1836481"/>
            <a:ext cx="313822" cy="3138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82496" y="172821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— external PSK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14400" y="2487168"/>
            <a:ext cx="484632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QKD key material maps to RFC 8446 external PSK handshake mode.</a:t>
            </a:r>
            <a:endParaRPr lang="en-US" sz="120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psk_dhe_ke keeps an (EC)DHE contribution alongside the PSK — defense-in-depth; psk_ke is pure-PSK.</a:t>
            </a:r>
            <a:endParaRPr lang="en-US" sz="120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QKD-derived secret enters the HKDF key schedule at the early-secret stage.</a:t>
            </a:r>
            <a:endParaRPr lang="en-US" sz="120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tls_psk_demo.py — Alice and Bob fetch the same key from the KME and exchange AES-256-GCM traffic with no Diffie-Hellman.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63640" y="1417320"/>
            <a:ext cx="5285232" cy="3794760"/>
          </a:xfrm>
          <a:prstGeom prst="roundRect">
            <a:avLst>
              <a:gd name="adj" fmla="val 2169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691640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0" name="Image 1" descr="/sessions/optimistic-admiring-gates/deckbuild/asset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801" y="1836481"/>
            <a:ext cx="313822" cy="31382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06056" y="1728216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/ IKEv2 — PPK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537960" y="2487168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8784 Post-quantum Preshared Keys: the PPK is mixed into IKEv2's SK_d.</a:t>
            </a:r>
            <a:endParaRPr lang="en-US" sz="120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strongSwan configuration guide maps KME key fetch → PPK provisioning.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486400"/>
            <a:ext cx="10908792" cy="777240"/>
          </a:xfrm>
          <a:prstGeom prst="roundRect">
            <a:avLst>
              <a:gd name="adj" fmla="val 10588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14400" y="548640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thread:  </a:t>
            </a:r>
            <a:pPr indent="0" marL="0">
              <a:buNone/>
            </a:pPr>
            <a:r>
              <a:rPr lang="en-US" sz="13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standards already have a slot for externally delivered symmetric keys — QKD just fills it.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Target 3 — Service Mesh, plus the Hybrid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91640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5" name="Image 0" descr="/sessions/optimistic-admiring-gates/deckbuild/asset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9241" y="1836481"/>
            <a:ext cx="313822" cy="3138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82496" y="1728216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mesh authentication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14400" y="2514600"/>
            <a:ext cx="4846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Short-interval symmetric rekeying for service-to-service authentication.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SDN-controlled allocation of QKD key material across mesh topologies.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 proxies consume keys through the same ETSI 014 REST interface.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" y="5257800"/>
            <a:ext cx="566928" cy="566928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9" name="Image 1" descr="/sessions/optimistic-admiring-gates/deckbuild/assets/ch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743" y="5393863"/>
            <a:ext cx="294803" cy="29480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55648" y="5093208"/>
            <a:ext cx="427939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interface everywhere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 proxies, VPN gateways, and TLS endpoints all consume the identical ETSI 014 REST API — one key-delivery pipeline.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6263640" y="1417320"/>
            <a:ext cx="5285232" cy="4754880"/>
          </a:xfrm>
          <a:prstGeom prst="roundRect">
            <a:avLst>
              <a:gd name="adj" fmla="val 1731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37960" y="1645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QKD + PQC — the recommendation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629400" y="2331720"/>
            <a:ext cx="2148840" cy="566928"/>
          </a:xfrm>
          <a:prstGeom prst="roundRect">
            <a:avLst>
              <a:gd name="adj" fmla="val 12903"/>
            </a:avLst>
          </a:prstGeom>
          <a:solidFill>
            <a:srgbClr val="0E1634"/>
          </a:solidFill>
          <a:ln w="15875">
            <a:solidFill>
              <a:srgbClr val="3EE0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 key (QKD)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9052560" y="2331720"/>
            <a:ext cx="2148840" cy="566928"/>
          </a:xfrm>
          <a:prstGeom prst="roundRect">
            <a:avLst>
              <a:gd name="adj" fmla="val 12903"/>
            </a:avLst>
          </a:prstGeom>
          <a:solidFill>
            <a:srgbClr val="0E1634"/>
          </a:solidFill>
          <a:ln w="15875">
            <a:solidFill>
              <a:srgbClr val="8B7C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ML-KEM (FIPS 203)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99248" y="2898648"/>
            <a:ext cx="941832" cy="502920"/>
          </a:xfrm>
          <a:prstGeom prst="line">
            <a:avLst/>
          </a:prstGeom>
          <a:noFill/>
          <a:ln w="19050">
            <a:solidFill>
              <a:srgbClr val="9FB0D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122408" y="2898648"/>
            <a:ext cx="-941832" cy="502920"/>
          </a:xfrm>
          <a:prstGeom prst="line">
            <a:avLst/>
          </a:prstGeom>
          <a:noFill/>
          <a:ln w="19050">
            <a:solidFill>
              <a:srgbClr val="9FB0D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18120" y="3401568"/>
            <a:ext cx="2194560" cy="530352"/>
          </a:xfrm>
          <a:prstGeom prst="roundRect">
            <a:avLst>
              <a:gd name="adj" fmla="val 13793"/>
            </a:avLst>
          </a:prstGeom>
          <a:solidFill>
            <a:srgbClr val="121B41"/>
          </a:solidFill>
          <a:ln w="15875">
            <a:solidFill>
              <a:srgbClr val="CADCF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HKDF-SHA256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915400" y="3931920"/>
            <a:ext cx="0" cy="384048"/>
          </a:xfrm>
          <a:prstGeom prst="line">
            <a:avLst/>
          </a:prstGeom>
          <a:noFill/>
          <a:ln w="19050">
            <a:solidFill>
              <a:srgbClr val="9FB0D8"/>
            </a:solidFill>
            <a:prstDash val="solid"/>
            <a:tailEnd type="triangle"/>
          </a:ln>
        </p:spPr>
      </p:sp>
      <p:sp>
        <p:nvSpPr>
          <p:cNvPr id="19" name="Text 15"/>
          <p:cNvSpPr/>
          <p:nvPr/>
        </p:nvSpPr>
        <p:spPr>
          <a:xfrm>
            <a:off x="7818120" y="4315968"/>
            <a:ext cx="2194560" cy="530352"/>
          </a:xfrm>
          <a:prstGeom prst="roundRect">
            <a:avLst>
              <a:gd name="adj" fmla="val 13793"/>
            </a:avLst>
          </a:prstGeom>
          <a:solidFill>
            <a:srgbClr val="0F2E2B"/>
          </a:solidFill>
          <a:ln w="15875">
            <a:solidFill>
              <a:srgbClr val="34D399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secret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537960" y="507492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 TS 104 015 / RFC 9794 — secure if either input remains secure.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hybrid_kdf.py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Adaptive Security Layer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models, one closed loop — unified behind a FastAPI service (/analyze)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696712"/>
                <a:gridCol w="256032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4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Eavesdrop detection (vs. hard 11% threshold)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EE0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93% accuracy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5-class attack classification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EE0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accuracy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QBER time-series forecasting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EE0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0.006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GB Regressor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BB84 parameter tuning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EE0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= 0.85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Isolation Forest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AF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KME traffic anomaly detection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EE0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 detection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3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" y="5532120"/>
            <a:ext cx="566928" cy="566928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6" name="Image 0" descr="/sessions/optimistic-admiring-gates/deckbuild/assets/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5668183"/>
            <a:ext cx="294803" cy="29480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64208" y="5367528"/>
            <a:ext cx="972007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by construction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8-feature extraction (features.py) keeps train/serve consistent; physics constraints bound every synthetic sample.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Gym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96112" y="1764792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5" name="Image 0" descr="/sessions/optimistic-admiring-gates/deckbuild/asset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953" y="1909633"/>
            <a:ext cx="313822" cy="3138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64208" y="1783080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Evolutionary arena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96112" y="2532888"/>
            <a:ext cx="48371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DEAP evolutionary arena: attack strategies evolve against defender models, bounded by QKD physics constraints.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99632" y="150876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55664" y="1764792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0" name="Image 1" descr="/sessions/optimistic-admiring-gates/deckbuild/asset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505" y="1909633"/>
            <a:ext cx="313822" cy="31382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23760" y="1783080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Defenders harden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6455664" y="2532888"/>
            <a:ext cx="48371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models are re-trained adversarially each generation.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397764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96112" y="4233672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5" name="Image 2" descr="/sessions/optimistic-admiring-gates/deckbuild/assets/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953" y="4378513"/>
            <a:ext cx="313822" cy="31382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64208" y="4251960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evolution dashboard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896112" y="5001768"/>
            <a:ext cx="48371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phylogeny tree tracks attack lineage; a React + D3 dashboard streams the evolution live over WebSocket.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99632" y="397764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455664" y="4233672"/>
            <a:ext cx="603504" cy="603504"/>
          </a:xfrm>
          <a:prstGeom prst="ellipse">
            <a:avLst/>
          </a:prstGeom>
          <a:solidFill>
            <a:srgbClr val="0E1634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20" name="Image 3" descr="/sessions/optimistic-admiring-gates/deckbuild/assets/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505" y="4378513"/>
            <a:ext cx="313822" cy="31382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223760" y="4251960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static benchmarks can't answer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6455664" y="5001768"/>
            <a:ext cx="48371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defense hold against an adapting adversary — not just a fixed test set?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terminals + a dashboard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08792" cy="3977640"/>
          </a:xfrm>
          <a:prstGeom prst="roundRect">
            <a:avLst>
              <a:gd name="adj" fmla="val 2299"/>
            </a:avLst>
          </a:prstGeom>
          <a:solidFill>
            <a:srgbClr val="070D22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10908792" cy="384048"/>
          </a:xfrm>
          <a:prstGeom prst="roundRect">
            <a:avLst>
              <a:gd name="adj" fmla="val 23810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682496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" y="1682496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280160" y="1682496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109087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qkd-demo — bash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2103120"/>
            <a:ext cx="10268712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kme_server.py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# ETSI 014 key server — pre-generates 50 BB84 keys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tls_psk_demo.py server|client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QKD-keyed AES-256-GCM exchange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localhost:8000/analyze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clean channel   → </a:t>
            </a:r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eavesdropper    → </a:t>
            </a:r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ABORT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(QBER 27% — classified as intercept-resend)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open gym-dashboard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# attacker/defender co-evolution in real time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recorded run + captured outputs — see the demo script.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&amp; Operational Reality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777240" y="1536192"/>
            <a:ext cx="621792" cy="621792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4" name="Image 0" descr="/sessions/optimistic-admiring-gates/deckbuild/asset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470" y="1685422"/>
            <a:ext cx="323332" cy="3233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19072" y="1371600"/>
            <a:ext cx="95737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vendor profiles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Toshiba, ID Quantique/IonQ, QuantumCTek, LuxQuanta, QBird, QuintessenceLabs, IBM (PQC), Lockheed Martin (defense).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777240" y="2514600"/>
            <a:ext cx="621792" cy="621792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7" name="Image 1" descr="/sessions/optimistic-admiring-gates/deckbuild/assets/p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70" y="2663830"/>
            <a:ext cx="323332" cy="3233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19072" y="2350008"/>
            <a:ext cx="95737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km practical fiber spans; trusted nodes or satellites beyond that.</a:t>
            </a:r>
            <a:endParaRPr lang="en-US" sz="1650" dirty="0"/>
          </a:p>
        </p:txBody>
      </p:sp>
      <p:sp>
        <p:nvSpPr>
          <p:cNvPr id="9" name="Shape 5"/>
          <p:cNvSpPr/>
          <p:nvPr/>
        </p:nvSpPr>
        <p:spPr>
          <a:xfrm>
            <a:off x="777240" y="3493008"/>
            <a:ext cx="621792" cy="621792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0" name="Image 2" descr="/sessions/optimistic-admiring-gates/deckbuild/assets/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470" y="3642238"/>
            <a:ext cx="323332" cy="3233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19072" y="3328416"/>
            <a:ext cx="95737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dark fiber + cryogenic/SNSPD detectors at the high end.</a:t>
            </a:r>
            <a:endParaRPr lang="en-US" sz="1650" dirty="0"/>
          </a:p>
        </p:txBody>
      </p:sp>
      <p:sp>
        <p:nvSpPr>
          <p:cNvPr id="12" name="Shape 7"/>
          <p:cNvSpPr/>
          <p:nvPr/>
        </p:nvSpPr>
        <p:spPr>
          <a:xfrm>
            <a:off x="777240" y="4471416"/>
            <a:ext cx="621792" cy="621792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3" name="Image 3" descr="/sessions/optimistic-admiring-gates/deckbuild/assets/aw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470" y="4620646"/>
            <a:ext cx="323332" cy="3233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719072" y="4306824"/>
            <a:ext cx="95737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gap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FIPS-equivalent exists for QKD hardware yet — a real procurement blocker.</a:t>
            </a:r>
            <a:endParaRPr lang="en-US" sz="1650" dirty="0"/>
          </a:p>
        </p:txBody>
      </p:sp>
      <p:sp>
        <p:nvSpPr>
          <p:cNvPr id="15" name="Shape 9"/>
          <p:cNvSpPr/>
          <p:nvPr/>
        </p:nvSpPr>
        <p:spPr>
          <a:xfrm>
            <a:off x="777240" y="5449824"/>
            <a:ext cx="621792" cy="621792"/>
          </a:xfrm>
          <a:prstGeom prst="ellipse">
            <a:avLst/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</p:spPr>
      </p:sp>
      <p:pic>
        <p:nvPicPr>
          <p:cNvPr id="16" name="Image 4" descr="/sessions/optimistic-admiring-gates/deckbuild/assets/netwo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470" y="5599054"/>
            <a:ext cx="323332" cy="3233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719072" y="5285232"/>
            <a:ext cx="95737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QKD fits today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high-value links — data-center pairs, financial backbones, government — not general internet traffic.</a:t>
            </a:r>
            <a:endParaRPr lang="en-US" sz="1650" dirty="0"/>
          </a:p>
        </p:txBody>
      </p:sp>
      <p:sp>
        <p:nvSpPr>
          <p:cNvPr id="18" name="Text 11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Engineering Practice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709928"/>
            <a:ext cx="4800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+ 245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32688" y="2807208"/>
            <a:ext cx="4764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documents, plus a 245-entry vocabulary study guide and full reference list.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50876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73952" y="1709928"/>
            <a:ext cx="4800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92240" y="2807208"/>
            <a:ext cx="4764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modules behind a reproducible three-terminal demo.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4178808"/>
            <a:ext cx="4800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on PyPI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932688" y="5276088"/>
            <a:ext cx="4764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qkdsec published with a CI matrix (3.10/3.11/3.12), tag-driven releases via Trusted Publishing, versions from git tags.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97764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121B41"/>
          </a:solidFill>
          <a:ln w="12700">
            <a:solidFill>
              <a:srgbClr val="26365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73952" y="4178808"/>
            <a:ext cx="4800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492240" y="5276088"/>
            <a:ext cx="4764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capstone milestones complete.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optimistic-admiring-gates/deckbuild/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100" dirty="0"/>
          </a:p>
        </p:txBody>
      </p:sp>
      <p:pic>
        <p:nvPicPr>
          <p:cNvPr id="4" name="Image 1" descr="/sessions/optimistic-admiring-gates/deckbuild/asset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99616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71600" y="1280160"/>
            <a:ext cx="55778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Drop-in, not rip-out</a:t>
            </a:r>
            <a:endParaRPr lang="en-US" sz="1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QKD integrates into existing enterprise protocols without modifying them — external PSK (TLS), PPK (IKEv2), symmetric rekeying (mesh).</a:t>
            </a:r>
            <a:endParaRPr lang="en-US" sz="1600" dirty="0"/>
          </a:p>
        </p:txBody>
      </p:sp>
      <p:pic>
        <p:nvPicPr>
          <p:cNvPr id="6" name="Image 2" descr="/sessions/optimistic-admiring-gates/deckbuild/asset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42032"/>
            <a:ext cx="365760" cy="36576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371600" y="2322576"/>
            <a:ext cx="55778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 GS QKD 014 is the right abstraction</a:t>
            </a:r>
            <a:endParaRPr lang="en-US" sz="1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don't care whether keys come from simulation or hardware.</a:t>
            </a:r>
            <a:endParaRPr lang="en-US" sz="1600" dirty="0"/>
          </a:p>
        </p:txBody>
      </p:sp>
      <p:pic>
        <p:nvPicPr>
          <p:cNvPr id="8" name="Image 3" descr="/sessions/optimistic-admiring-gates/deckbuild/asset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84448"/>
            <a:ext cx="365760" cy="36576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371600" y="3364992"/>
            <a:ext cx="55778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QKD + PQC is the defensible recommendation</a:t>
            </a:r>
            <a:endParaRPr lang="en-US" sz="1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and mathematics fail independently.</a:t>
            </a:r>
            <a:endParaRPr lang="en-US" sz="1600" dirty="0"/>
          </a:p>
        </p:txBody>
      </p:sp>
      <p:pic>
        <p:nvPicPr>
          <p:cNvPr id="10" name="Image 4" descr="/sessions/optimistic-admiring-gates/deckbuild/asset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626864"/>
            <a:ext cx="365760" cy="365760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371600" y="4407408"/>
            <a:ext cx="55778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makes the defense adaptive</a:t>
            </a:r>
            <a:endParaRPr lang="en-US" sz="1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 QBER threshold becomes an attack-aware control loop — and survives an evolving adversary.</a:t>
            </a:r>
            <a:endParaRPr lang="en-US" sz="1600" dirty="0"/>
          </a:p>
        </p:txBody>
      </p:sp>
      <p:sp>
        <p:nvSpPr>
          <p:cNvPr id="12" name="Text 5"/>
          <p:cNvSpPr/>
          <p:nvPr/>
        </p:nvSpPr>
        <p:spPr>
          <a:xfrm>
            <a:off x="777240" y="57607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3000" dirty="0"/>
          </a:p>
        </p:txBody>
      </p:sp>
      <p:sp>
        <p:nvSpPr>
          <p:cNvPr id="13" name="Text 6"/>
          <p:cNvSpPr/>
          <p:nvPr/>
        </p:nvSpPr>
        <p:spPr>
          <a:xfrm>
            <a:off x="111401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2026-07-02T19:17:59Z</dcterms:created>
  <dcterms:modified xsi:type="dcterms:W3CDTF">2026-07-02T19:17:59Z</dcterms:modified>
</cp:coreProperties>
</file>