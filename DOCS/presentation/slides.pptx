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4415" cy="1271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4000">
                <a:solidFill>
                  <a:srgbClr val="1F2937"/>
                </a:solidFill>
                <a:latin typeface="Calibri"/>
              </a:rPr>
              <a:t>Quantum Key Distribution for Enterprise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328416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200">
                <a:solidFill>
                  <a:srgbClr val="0E8A16"/>
                </a:solidFill>
                <a:latin typeface="Calibri"/>
              </a:rPr>
              <a:t>Integrating QKD into TLS 1.3, IPsec/IKEv2, and Service Mesh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77056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000">
                <a:solidFill>
                  <a:srgbClr val="1F2937"/>
                </a:solidFill>
                <a:latin typeface="Calibri"/>
              </a:rPr>
              <a:t>John Jepsen — MSCS 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1F2937"/>
                </a:solidFill>
                <a:latin typeface="Calibri"/>
              </a:rPr>
              <a:t>The Threat: Harvest Now, Decrypt Later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Adversaries record encrypted traffic </a:t>
            </a:r>
            <a:r>
              <a:rPr b="1" sz="1700">
                <a:solidFill>
                  <a:srgbClr val="1F2937"/>
                </a:solidFill>
                <a:latin typeface="Calibri"/>
              </a:rPr>
              <a:t>today</a:t>
            </a:r>
            <a:r>
              <a:rPr b="0" sz="1700">
                <a:solidFill>
                  <a:srgbClr val="1F2937"/>
                </a:solidFill>
                <a:latin typeface="Calibri"/>
              </a:rPr>
              <a:t> and decrypt it once a cryptographically relevant quantum computer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22932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Shor's algorithm breaks the key exchange (Diffie-Hellman/ECDHE), not the symmetric cipher — AES-256 survives, but the key agreement doesn't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2824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Any data with a shelf life longer than the quantum timeline is already at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31820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</a:t>
            </a:r>
            <a:r>
              <a:rPr b="1" sz="1700">
                <a:solidFill>
                  <a:srgbClr val="1F2937"/>
                </a:solidFill>
                <a:latin typeface="Calibri"/>
              </a:rPr>
              <a:t>This makes quantum-safe key exchange an operational concern now, not a research topic for later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1F2937"/>
                </a:solidFill>
                <a:latin typeface="Calibri"/>
              </a:rPr>
              <a:t>Two Answers — Not Either/Or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9441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Post-Quantum Cryptography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Quantum Key Distribution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Security basis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Computational hardness (lattices)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Physics (no-cloning theorem)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Software upgrade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Dedicated fiber + hardware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Unlimited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~100–500 km per link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Maturity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NIST FIPS 203/204/205 finalized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Commercial, certification gaps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95020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1F2937"/>
                </a:solidFill>
                <a:latin typeface="Calibri"/>
              </a:rPr>
              <a:t>Thesis:</a:t>
            </a:r>
            <a:r>
              <a:rPr b="0" sz="1700">
                <a:solidFill>
                  <a:srgbClr val="1F2937"/>
                </a:solidFill>
                <a:latin typeface="Calibri"/>
              </a:rPr>
              <a:t> map where each fits — and demonstrate the </a:t>
            </a:r>
            <a:r>
              <a:rPr b="1" sz="1700">
                <a:solidFill>
                  <a:srgbClr val="1F2937"/>
                </a:solidFill>
                <a:latin typeface="Calibri"/>
              </a:rPr>
              <a:t>hybrid QKD + PQC</a:t>
            </a:r>
            <a:r>
              <a:rPr b="0" sz="1700">
                <a:solidFill>
                  <a:srgbClr val="1F2937"/>
                </a:solidFill>
                <a:latin typeface="Calibri"/>
              </a:rPr>
              <a:t> architecture (ETSI TS 104 015) for highest-assurance deployments.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1F2937"/>
                </a:solidFill>
                <a:latin typeface="Calibri"/>
              </a:rPr>
              <a:t>What I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1F2937"/>
                </a:solidFill>
                <a:latin typeface="Calibri"/>
              </a:rPr>
              <a:t>Documentation suite</a:t>
            </a:r>
            <a:r>
              <a:rPr b="0" sz="1700">
                <a:solidFill>
                  <a:srgbClr val="1F2937"/>
                </a:solidFill>
                <a:latin typeface="Calibri"/>
              </a:rPr>
              <a:t> — 8 practitioner documents: protocol foundations, TLS/IPsec/mesh integration patterns, key management, 8 vendor profiles, operational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22932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1F2937"/>
                </a:solidFill>
                <a:latin typeface="Calibri"/>
              </a:rPr>
              <a:t>Working implementation</a:t>
            </a:r>
            <a:r>
              <a:rPr b="0" sz="1700">
                <a:solidFill>
                  <a:srgbClr val="1F2937"/>
                </a:solidFill>
                <a:latin typeface="Calibri"/>
              </a:rPr>
              <a:t> — full QKD key-delivery pipeline in Python: BB84 on IBM Qiskit → ETSI QKD 014 key server →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2824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1F2937"/>
                </a:solidFill>
                <a:latin typeface="Calibri"/>
              </a:rPr>
              <a:t>ML adaptive security layer</a:t>
            </a:r>
            <a:r>
              <a:rPr b="0" sz="1700">
                <a:solidFill>
                  <a:srgbClr val="1F2937"/>
                </a:solidFill>
                <a:latin typeface="Calibri"/>
              </a:rPr>
              <a:t> — five models in a closed loop behind a FastAPI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31820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1F2937"/>
                </a:solidFill>
                <a:latin typeface="Calibri"/>
              </a:rPr>
              <a:t>Adversarial gym</a:t>
            </a:r>
            <a:r>
              <a:rPr b="0" sz="1700">
                <a:solidFill>
                  <a:srgbClr val="1F2937"/>
                </a:solidFill>
                <a:latin typeface="Calibri"/>
              </a:rPr>
              <a:t> — co-evolutionary attacker/defender arena with a live React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80816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1F2937"/>
                </a:solidFill>
                <a:latin typeface="Calibri"/>
              </a:rPr>
              <a:t>`qkdsec`</a:t>
            </a:r>
            <a:r>
              <a:rPr b="0" sz="1700">
                <a:solidFill>
                  <a:srgbClr val="1F2937"/>
                </a:solidFill>
                <a:latin typeface="Calibri"/>
              </a:rPr>
              <a:t> — pip-installable open-source package (ETSI 014 client, key-rate proofs, BB84 simulator), released to PyPI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1F2937"/>
                </a:solidFill>
                <a:latin typeface="Calibri"/>
              </a:rPr>
              <a:t>BB84 in 60 Seconds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Alice encodes random bits in random bases — implemented as real quantum circuits (X/H gates) on the Qiskit Aer simulator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22932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Bob measures in his own random bases; they keep only matching-basis bits (</a:t>
            </a:r>
            <a:r>
              <a:rPr b="1" sz="1700">
                <a:solidFill>
                  <a:srgbClr val="1F2937"/>
                </a:solidFill>
                <a:latin typeface="Calibri"/>
              </a:rPr>
              <a:t>sifting</a:t>
            </a:r>
            <a:r>
              <a:rPr b="0" sz="1700">
                <a:solidFill>
                  <a:srgbClr val="1F2937"/>
                </a:solidFill>
                <a:latin typeface="Calibri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71928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They sacrifice a sample to estimate the </a:t>
            </a:r>
            <a:r>
              <a:rPr b="1" sz="1700">
                <a:solidFill>
                  <a:srgbClr val="1F2937"/>
                </a:solidFill>
                <a:latin typeface="Calibri"/>
              </a:rPr>
              <a:t>QBER</a:t>
            </a:r>
            <a:r>
              <a:rPr b="0" sz="1700">
                <a:solidFill>
                  <a:srgbClr val="1F2937"/>
                </a:solidFill>
                <a:latin typeface="Calibri"/>
              </a:rPr>
              <a:t> (quantum bit error rate)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20924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1F2937"/>
                </a:solidFill>
                <a:latin typeface="Calibri"/>
              </a:rPr>
              <a:t>Eavesdropper detection is physics:</a:t>
            </a:r>
            <a:r>
              <a:rPr b="0" sz="1700">
                <a:solidFill>
                  <a:srgbClr val="1F2937"/>
                </a:solidFill>
                <a:latin typeface="Calibri"/>
              </a:rPr>
              <a:t> intercept-resend forces ~25% QBER from wrong-basis collapse — protocol aborts above the 11%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80816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Error correction (Cascade) + privacy amplification → </a:t>
            </a:r>
            <a:r>
              <a:rPr b="1" sz="1700">
                <a:solidFill>
                  <a:srgbClr val="1F2937"/>
                </a:solidFill>
                <a:latin typeface="Calibri"/>
              </a:rPr>
              <a:t>256-bit shared secret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29812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No classical key agreement anywhere in the flow.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1F2937"/>
                </a:solidFill>
                <a:latin typeface="Calibri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2286000"/>
          </a:xfrm>
          <a:prstGeom prst="rect">
            <a:avLst/>
          </a:prstGeom>
          <a:solidFill>
            <a:srgbClr val="F3F4F6"/>
          </a:solidFill>
        </p:spPr>
        <p:txBody>
          <a:bodyPr wrap="none">
            <a:spAutoFit/>
          </a:bodyPr>
          <a:lstStyle/>
          <a:p>
            <a:r>
              <a:rPr sz="1300">
                <a:solidFill>
                  <a:srgbClr val="1F2937"/>
                </a:solidFill>
                <a:latin typeface="Menlo"/>
              </a:rPr>
              <a:t>BB84 (Qiskit Aer)  ──►  distillation: sift → QBER → correct → amplify</a:t>
            </a:r>
          </a:p>
          <a:p>
            <a:r>
              <a:rPr sz="1300">
                <a:solidFill>
                  <a:srgbClr val="1F2937"/>
                </a:solidFill>
                <a:latin typeface="Menlo"/>
              </a:rPr>
              <a:t>        │</a:t>
            </a:r>
          </a:p>
          <a:p>
            <a:r>
              <a:rPr sz="1300">
                <a:solidFill>
                  <a:srgbClr val="1F2937"/>
                </a:solidFill>
                <a:latin typeface="Menlo"/>
              </a:rPr>
              <a:t>        ▼</a:t>
            </a:r>
          </a:p>
          <a:p>
            <a:r>
              <a:rPr sz="1300">
                <a:solidFill>
                  <a:srgbClr val="1F2937"/>
                </a:solidFill>
                <a:latin typeface="Menlo"/>
              </a:rPr>
              <a:t>KME — ETSI GS QKD 014 REST API (Flask)</a:t>
            </a:r>
          </a:p>
          <a:p>
            <a:r>
              <a:rPr sz="1300">
                <a:solidFill>
                  <a:srgbClr val="1F2937"/>
                </a:solidFill>
                <a:latin typeface="Menlo"/>
              </a:rPr>
              <a:t>  GET /enc_keys → key_ID + key      POST /dec_keys → key by ID</a:t>
            </a:r>
          </a:p>
          <a:p>
            <a:r>
              <a:rPr sz="1300">
                <a:solidFill>
                  <a:srgbClr val="1F2937"/>
                </a:solidFill>
                <a:latin typeface="Menlo"/>
              </a:rPr>
              <a:t>        │                                   │</a:t>
            </a:r>
          </a:p>
          <a:p>
            <a:r>
              <a:rPr sz="1300">
                <a:solidFill>
                  <a:srgbClr val="1F2937"/>
                </a:solidFill>
                <a:latin typeface="Menlo"/>
              </a:rPr>
              <a:t>        ▼                                   ▼</a:t>
            </a:r>
          </a:p>
          <a:p>
            <a:r>
              <a:rPr sz="1300">
                <a:solidFill>
                  <a:srgbClr val="1F2937"/>
                </a:solidFill>
                <a:latin typeface="Menlo"/>
              </a:rPr>
              <a:t>   Alice (master SAE)  ── key_ID ──►  Bob (slave SAE)</a:t>
            </a:r>
          </a:p>
          <a:p>
            <a:r>
              <a:rPr sz="1300">
                <a:solidFill>
                  <a:srgbClr val="1F2937"/>
                </a:solidFill>
                <a:latin typeface="Menlo"/>
              </a:rPr>
              <a:t>        └────── AES-256-GCM encrypted channel ──────┘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86200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The ETSI 014 interface is </a:t>
            </a:r>
            <a:r>
              <a:rPr b="1" sz="1700">
                <a:solidFill>
                  <a:srgbClr val="1F2937"/>
                </a:solidFill>
                <a:latin typeface="Calibri"/>
              </a:rPr>
              <a:t>identical</a:t>
            </a:r>
            <a:r>
              <a:rPr b="0" sz="1700">
                <a:solidFill>
                  <a:srgbClr val="1F2937"/>
                </a:solidFill>
                <a:latin typeface="Calibri"/>
              </a:rPr>
              <a:t> for simulation and real hardware — vendor adapters (Toshiba, IDQ, QuintessenceLabs, QuantumCTek) plug in via </a:t>
            </a:r>
            <a:r>
              <a:rPr sz="1500">
                <a:solidFill>
                  <a:srgbClr val="1F2937"/>
                </a:solidFill>
                <a:latin typeface="Menlo"/>
              </a:rPr>
              <a:t>--upstream-kme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46092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Trusted-node XOR relay network extends range beyond a single fiber link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1F2937"/>
                </a:solidFill>
                <a:latin typeface="Calibri"/>
              </a:rPr>
              <a:t>Integration Target 1 — TLS 1.3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QKD key material maps to </a:t>
            </a:r>
            <a:r>
              <a:rPr b="1" sz="1700">
                <a:solidFill>
                  <a:srgbClr val="1F2937"/>
                </a:solidFill>
                <a:latin typeface="Calibri"/>
              </a:rPr>
              <a:t>RFC 8446 external PSK</a:t>
            </a:r>
            <a:r>
              <a:rPr b="0" sz="1700">
                <a:solidFill>
                  <a:srgbClr val="1F2937"/>
                </a:solidFill>
                <a:latin typeface="Calibri"/>
              </a:rPr>
              <a:t> handshake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12036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</a:t>
            </a:r>
            <a:r>
              <a:rPr sz="1500">
                <a:solidFill>
                  <a:srgbClr val="1F2937"/>
                </a:solidFill>
                <a:latin typeface="Menlo"/>
              </a:rPr>
              <a:t>psk_dhe_ke</a:t>
            </a:r>
            <a:r>
              <a:rPr b="0" sz="1700">
                <a:solidFill>
                  <a:srgbClr val="1F2937"/>
                </a:solidFill>
                <a:latin typeface="Calibri"/>
              </a:rPr>
              <a:t> keeps an (EC)DHE contribution alongside the PSK — defense-in-depth; </a:t>
            </a:r>
            <a:r>
              <a:rPr sz="1500">
                <a:solidFill>
                  <a:srgbClr val="1F2937"/>
                </a:solidFill>
                <a:latin typeface="Menlo"/>
              </a:rPr>
              <a:t>psk_ke</a:t>
            </a:r>
            <a:r>
              <a:rPr b="0" sz="1700">
                <a:solidFill>
                  <a:srgbClr val="1F2937"/>
                </a:solidFill>
                <a:latin typeface="Calibri"/>
              </a:rPr>
              <a:t> is pure-PSK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71928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QKD-derived secret enters the HKDF key schedule at the early-secret 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20924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Demo: </a:t>
            </a:r>
            <a:r>
              <a:rPr sz="1500">
                <a:solidFill>
                  <a:srgbClr val="1F2937"/>
                </a:solidFill>
                <a:latin typeface="Menlo"/>
              </a:rPr>
              <a:t>tls_psk_demo.py</a:t>
            </a:r>
            <a:r>
              <a:rPr b="0" sz="1700">
                <a:solidFill>
                  <a:srgbClr val="1F2937"/>
                </a:solidFill>
                <a:latin typeface="Calibri"/>
              </a:rPr>
              <a:t> — Alice and Bob fetch the same key from the KME and exchange AES-256-GCM traffic with </a:t>
            </a:r>
            <a:r>
              <a:rPr b="1" sz="1700">
                <a:solidFill>
                  <a:srgbClr val="1F2937"/>
                </a:solidFill>
                <a:latin typeface="Calibri"/>
              </a:rPr>
              <a:t>no Diffie-Hellman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80816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0E8A16"/>
                </a:solidFill>
                <a:latin typeface="Calibri"/>
              </a:rPr>
              <a:t>Integration Target 2 — IPsec/IKEv2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20896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</a:t>
            </a:r>
            <a:r>
              <a:rPr b="1" sz="1700">
                <a:solidFill>
                  <a:srgbClr val="1F2937"/>
                </a:solidFill>
                <a:latin typeface="Calibri"/>
              </a:rPr>
              <a:t>RFC 8784</a:t>
            </a:r>
            <a:r>
              <a:rPr b="0" sz="1700">
                <a:solidFill>
                  <a:srgbClr val="1F2937"/>
                </a:solidFill>
                <a:latin typeface="Calibri"/>
              </a:rPr>
              <a:t> Post-quantum Preshared Keys: PPK mixed into IKEv2 </a:t>
            </a:r>
            <a:r>
              <a:rPr sz="1500">
                <a:solidFill>
                  <a:srgbClr val="1F2937"/>
                </a:solidFill>
                <a:latin typeface="Menlo"/>
              </a:rPr>
              <a:t>SK_d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69892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Working strongSwan configuration guide maps KME key fetch → PPK provisioning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1F2937"/>
                </a:solidFill>
                <a:latin typeface="Calibri"/>
              </a:rPr>
              <a:t>Integration Target 3 — Service Mesh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Short-interval </a:t>
            </a:r>
            <a:r>
              <a:rPr b="1" sz="1700">
                <a:solidFill>
                  <a:srgbClr val="1F2937"/>
                </a:solidFill>
                <a:latin typeface="Calibri"/>
              </a:rPr>
              <a:t>symmetric rekeying</a:t>
            </a:r>
            <a:r>
              <a:rPr b="0" sz="1700">
                <a:solidFill>
                  <a:srgbClr val="1F2937"/>
                </a:solidFill>
                <a:latin typeface="Calibri"/>
              </a:rPr>
              <a:t> for service-to-service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12036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SDN-controlled allocation of QKD key material across mesh topologies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61032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Sidecar proxies consume keys through the same ETSI 014 REST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0028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0E8A16"/>
                </a:solidFill>
                <a:latin typeface="Calibri"/>
              </a:rPr>
              <a:t>Hybrid QKD + PQC (the recommendation)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50108"/>
            <a:ext cx="11094415" cy="685800"/>
          </a:xfrm>
          <a:prstGeom prst="rect">
            <a:avLst/>
          </a:prstGeom>
          <a:solidFill>
            <a:srgbClr val="F3F4F6"/>
          </a:solidFill>
        </p:spPr>
        <p:txBody>
          <a:bodyPr wrap="none">
            <a:spAutoFit/>
          </a:bodyPr>
          <a:lstStyle/>
          <a:p>
            <a:r>
              <a:rPr sz="1300">
                <a:solidFill>
                  <a:srgbClr val="1F2937"/>
                </a:solidFill>
                <a:latin typeface="Menlo"/>
              </a:rPr>
              <a:t>KME key  +  ML-KEM (FIPS 203) shared secret</a:t>
            </a:r>
          </a:p>
          <a:p>
            <a:r>
              <a:rPr sz="1300">
                <a:solidFill>
                  <a:srgbClr val="1F2937"/>
                </a:solidFill>
                <a:latin typeface="Menlo"/>
              </a:rPr>
              <a:t>        └── HKDF-SHA256 ──►  combined secret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3068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ETSI TS 104 015 / RFC 9794 — secure if </a:t>
            </a:r>
            <a:r>
              <a:rPr b="1" sz="1700">
                <a:solidFill>
                  <a:srgbClr val="1F2937"/>
                </a:solidFill>
                <a:latin typeface="Calibri"/>
              </a:rPr>
              <a:t>either</a:t>
            </a:r>
            <a:r>
              <a:rPr b="0" sz="1700">
                <a:solidFill>
                  <a:srgbClr val="1F2937"/>
                </a:solidFill>
                <a:latin typeface="Calibri"/>
              </a:rPr>
              <a:t> input remains secure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22064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Implemented in </a:t>
            </a:r>
            <a:r>
              <a:rPr sz="1500">
                <a:solidFill>
                  <a:srgbClr val="1F2937"/>
                </a:solidFill>
                <a:latin typeface="Menlo"/>
              </a:rPr>
              <a:t>hybrid_kdf.py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1F2937"/>
                </a:solidFill>
                <a:latin typeface="Calibri"/>
              </a:rPr>
              <a:t>ML Adaptive Security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Five models, one closed loop, unified behind FastAPI (</a:t>
            </a:r>
            <a:r>
              <a:rPr sz="1500">
                <a:solidFill>
                  <a:srgbClr val="1F2937"/>
                </a:solidFill>
                <a:latin typeface="Menlo"/>
              </a:rPr>
              <a:t>/analyze</a:t>
            </a:r>
            <a:r>
              <a:rPr b="0" sz="1700">
                <a:solidFill>
                  <a:srgbClr val="1F2937"/>
                </a:solidFill>
                <a:latin typeface="Calibri"/>
              </a:rPr>
              <a:t>):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66900"/>
          <a:ext cx="1109441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384048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Eavesdrop detection (vs. hard 11% threshold)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93% accuracy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5-class attack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96% accuracy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ARIMA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QBER time-series forecasting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MAE 0.006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GB Regressor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Optimal BB84 parameter 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R² = 0.85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Isolation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KME traffic anomaly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400">
                          <a:solidFill>
                            <a:srgbClr val="1F2937"/>
                          </a:solidFill>
                          <a:latin typeface="Calibri"/>
                        </a:rPr>
                        <a:t>86% detection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540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Shared 8-feature extraction (</a:t>
            </a:r>
            <a:r>
              <a:rPr sz="1500">
                <a:solidFill>
                  <a:srgbClr val="1F2937"/>
                </a:solidFill>
                <a:latin typeface="Menlo"/>
              </a:rPr>
              <a:t>features.py</a:t>
            </a:r>
            <a:r>
              <a:rPr b="0" sz="1700">
                <a:solidFill>
                  <a:srgbClr val="1F2937"/>
                </a:solidFill>
                <a:latin typeface="Calibri"/>
              </a:rPr>
              <a:t>) keeps train/serve consistent; physics constraints bound every synthetic sample.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1F2937"/>
                </a:solidFill>
                <a:latin typeface="Calibri"/>
              </a:rPr>
              <a:t>Adversarial Gym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</a:t>
            </a:r>
            <a:r>
              <a:rPr b="1" sz="1700">
                <a:solidFill>
                  <a:srgbClr val="1F2937"/>
                </a:solidFill>
                <a:latin typeface="Calibri"/>
              </a:rPr>
              <a:t>DEAP evolutionary arena:</a:t>
            </a:r>
            <a:r>
              <a:rPr b="0" sz="1700">
                <a:solidFill>
                  <a:srgbClr val="1F2937"/>
                </a:solidFill>
                <a:latin typeface="Calibri"/>
              </a:rPr>
              <a:t> attack strategies evolve against defender models, bounded by QKD physics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22932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Defenders </a:t>
            </a:r>
            <a:r>
              <a:rPr b="1" sz="1700">
                <a:solidFill>
                  <a:srgbClr val="1F2937"/>
                </a:solidFill>
                <a:latin typeface="Calibri"/>
              </a:rPr>
              <a:t>harden via adversarial retraining</a:t>
            </a:r>
            <a:r>
              <a:rPr b="0" sz="1700">
                <a:solidFill>
                  <a:srgbClr val="1F2937"/>
                </a:solidFill>
                <a:latin typeface="Calibri"/>
              </a:rPr>
              <a:t> each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71928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Phylogeny tree tracks attack lineage; React + D3 dashboard streams evolution live over WebSocket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31820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Answers the question a static benchmark can't: does the defense hold against an adapting adversary?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1F2937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Three terminals + dashboard: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66900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937"/>
                </a:solidFill>
                <a:latin typeface="Menlo"/>
              </a:rPr>
              <a:t>kme_server.py</a:t>
            </a:r>
            <a:r>
              <a:rPr b="0" sz="1700">
                <a:solidFill>
                  <a:srgbClr val="1F2937"/>
                </a:solidFill>
                <a:latin typeface="Calibri"/>
              </a:rPr>
              <a:t> — ETSI 014 key server, pre-generates 50 BB84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15896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937"/>
                </a:solidFill>
                <a:latin typeface="Menlo"/>
              </a:rPr>
              <a:t>tls_psk_demo.py server</a:t>
            </a:r>
            <a:r>
              <a:rPr b="0" sz="1700">
                <a:solidFill>
                  <a:srgbClr val="1F2937"/>
                </a:solidFill>
                <a:latin typeface="Calibri"/>
              </a:rPr>
              <a:t> / </a:t>
            </a:r>
            <a:r>
              <a:rPr sz="1500">
                <a:solidFill>
                  <a:srgbClr val="1F2937"/>
                </a:solidFill>
                <a:latin typeface="Menlo"/>
              </a:rPr>
              <a:t>client</a:t>
            </a:r>
            <a:r>
              <a:rPr b="0" sz="1700">
                <a:solidFill>
                  <a:srgbClr val="1F2937"/>
                </a:solidFill>
                <a:latin typeface="Calibri"/>
              </a:rPr>
              <a:t> — QKD-keyed AES-256-GCM exchange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4892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937"/>
                </a:solidFill>
                <a:latin typeface="Menlo"/>
              </a:rPr>
              <a:t>curl /analyze</a:t>
            </a:r>
            <a:r>
              <a:rPr b="0" sz="1700">
                <a:solidFill>
                  <a:srgbClr val="1F2937"/>
                </a:solidFill>
                <a:latin typeface="Calibri"/>
              </a:rPr>
              <a:t> — clean channel → </a:t>
            </a:r>
            <a:r>
              <a:rPr b="1" sz="1700">
                <a:solidFill>
                  <a:srgbClr val="1F2937"/>
                </a:solidFill>
                <a:latin typeface="Calibri"/>
              </a:rPr>
              <a:t>SECURE</a:t>
            </a:r>
            <a:r>
              <a:rPr b="0" sz="1700">
                <a:solidFill>
                  <a:srgbClr val="1F2937"/>
                </a:solidFill>
                <a:latin typeface="Calibri"/>
              </a:rPr>
              <a:t>; eavesdropper → </a:t>
            </a:r>
            <a:r>
              <a:rPr b="1" sz="1700">
                <a:solidFill>
                  <a:srgbClr val="1F2937"/>
                </a:solidFill>
                <a:latin typeface="Calibri"/>
              </a:rPr>
              <a:t>ABORT</a:t>
            </a:r>
            <a:r>
              <a:rPr b="0" sz="1700">
                <a:solidFill>
                  <a:srgbClr val="1F2937"/>
                </a:solidFill>
                <a:latin typeface="Calibri"/>
              </a:rPr>
              <a:t> (QBER 27%, attack classified as intercept-resend)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24784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Adversarial gym dashboard — co-evolution in real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7378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(Fallback: recorded run + captured outputs, see demo script)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1F2937"/>
                </a:solidFill>
                <a:latin typeface="Calibri"/>
              </a:rPr>
              <a:t>Vendor &amp; Operational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</a:t>
            </a:r>
            <a:r>
              <a:rPr b="1" sz="1700">
                <a:solidFill>
                  <a:srgbClr val="1F2937"/>
                </a:solidFill>
                <a:latin typeface="Calibri"/>
              </a:rPr>
              <a:t>8 profiles:</a:t>
            </a:r>
            <a:r>
              <a:rPr b="0" sz="1700">
                <a:solidFill>
                  <a:srgbClr val="1F2937"/>
                </a:solidFill>
                <a:latin typeface="Calibri"/>
              </a:rPr>
              <a:t> Toshiba, ID Quantique/IonQ, QuantumCTek, LuxQuanta, QBird, QuintessenceLabs, IBM (PQC), Lockheed Martin (defense)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22932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Distance: ~100 km practical fiber spans; trusted nodes or satellites beyond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71928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Cost: dedicated dark fiber + cryogenic/SNSPD detectors at the high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20924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Certification gap: no FIPS-equivalent for QKD hardware yet — a real procurement blocker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69920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</a:t>
            </a:r>
            <a:r>
              <a:rPr b="1" sz="1700">
                <a:solidFill>
                  <a:srgbClr val="1F2937"/>
                </a:solidFill>
                <a:latin typeface="Calibri"/>
              </a:rPr>
              <a:t>Where QKD fits today:</a:t>
            </a:r>
            <a:r>
              <a:rPr b="0" sz="1700">
                <a:solidFill>
                  <a:srgbClr val="1F2937"/>
                </a:solidFill>
                <a:latin typeface="Calibri"/>
              </a:rPr>
              <a:t> fixed high-value links (data-center pairs, financial backbones, government) — not general internet traffic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1F2937"/>
                </a:solidFill>
                <a:latin typeface="Calibri"/>
              </a:rPr>
              <a:t>Deliverables &amp; Engineering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8-document suite + 245-entry vocabulary study guide + full reference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12036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~20 Python modules; three-terminal reproducible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61032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</a:t>
            </a:r>
            <a:r>
              <a:rPr sz="1500">
                <a:solidFill>
                  <a:srgbClr val="1F2937"/>
                </a:solidFill>
                <a:latin typeface="Menlo"/>
              </a:rPr>
              <a:t>qkdsec</a:t>
            </a:r>
            <a:r>
              <a:rPr b="0" sz="1700">
                <a:solidFill>
                  <a:srgbClr val="1F2937"/>
                </a:solidFill>
                <a:latin typeface="Calibri"/>
              </a:rPr>
              <a:t> published on PyPI — CI matrix (3.10/3.11/3.12), tag-driven releases via PyPI Trusted Publishing, versions derived from git tags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20924"/>
            <a:ext cx="110944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• All five milestones complete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1F2937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QKD integrates into existing enterprise protocols </a:t>
            </a:r>
            <a:r>
              <a:rPr b="1" sz="1700">
                <a:solidFill>
                  <a:srgbClr val="1F2937"/>
                </a:solidFill>
                <a:latin typeface="Calibri"/>
              </a:rPr>
              <a:t>without modifying them</a:t>
            </a:r>
            <a:r>
              <a:rPr b="0" sz="1700">
                <a:solidFill>
                  <a:srgbClr val="1F2937"/>
                </a:solidFill>
                <a:latin typeface="Calibri"/>
              </a:rPr>
              <a:t> — external PSK (TLS), PPK (IKEv2), symmetric rekeying (mesh)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22932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ETSI GS QKD 014 is the right abstraction: applications don't care whether keys come from simulation or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2824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1F2937"/>
                </a:solidFill>
                <a:latin typeface="Calibri"/>
              </a:rPr>
              <a:t>Hybrid QKD + PQC</a:t>
            </a:r>
            <a:r>
              <a:rPr b="0" sz="1700">
                <a:solidFill>
                  <a:srgbClr val="1F2937"/>
                </a:solidFill>
                <a:latin typeface="Calibri"/>
              </a:rPr>
              <a:t> is the defensible recommendation — physics and mathematics fail independently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42716"/>
            <a:ext cx="1109441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700">
                <a:solidFill>
                  <a:srgbClr val="1F2937"/>
                </a:solidFill>
                <a:latin typeface="Calibri"/>
              </a:rPr>
              <a:t>ML turns a static QBER threshold into an adaptive, attack-aware control loop — and survives an evolving adversary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02608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1F2937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